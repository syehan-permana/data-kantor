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Inter Bold" charset="1" panose="02000503000000020004"/>
      <p:regular r:id="rId24"/>
    </p:embeddedFont>
    <p:embeddedFont>
      <p:font typeface="Archivo Black" charset="1" panose="020B0A03020202020B04"/>
      <p:regular r:id="rId25"/>
    </p:embeddedFont>
    <p:embeddedFont>
      <p:font typeface="Rye" charset="1" panose="020E080307050006000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8.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8.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8.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8.png" Type="http://schemas.openxmlformats.org/officeDocument/2006/relationships/image"/><Relationship Id="rId7" Target="../media/image17.png" Type="http://schemas.openxmlformats.org/officeDocument/2006/relationships/image"/><Relationship Id="rId8" Target="../media/image1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true" flipV="false" rot="0">
            <a:off x="0" y="6318746"/>
            <a:ext cx="6124273" cy="4281887"/>
          </a:xfrm>
          <a:custGeom>
            <a:avLst/>
            <a:gdLst/>
            <a:ahLst/>
            <a:cxnLst/>
            <a:rect r="r" b="b" t="t" l="l"/>
            <a:pathLst>
              <a:path h="4281887" w="6124273">
                <a:moveTo>
                  <a:pt x="6124273" y="0"/>
                </a:moveTo>
                <a:lnTo>
                  <a:pt x="0" y="0"/>
                </a:lnTo>
                <a:lnTo>
                  <a:pt x="0" y="4281887"/>
                </a:lnTo>
                <a:lnTo>
                  <a:pt x="6124273" y="4281887"/>
                </a:lnTo>
                <a:lnTo>
                  <a:pt x="6124273"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23028" y="-1666711"/>
            <a:ext cx="19111028" cy="11033632"/>
          </a:xfrm>
          <a:custGeom>
            <a:avLst/>
            <a:gdLst/>
            <a:ahLst/>
            <a:cxnLst/>
            <a:rect r="r" b="b" t="t" l="l"/>
            <a:pathLst>
              <a:path h="11033632" w="19111028">
                <a:moveTo>
                  <a:pt x="0" y="0"/>
                </a:moveTo>
                <a:lnTo>
                  <a:pt x="19111028" y="0"/>
                </a:lnTo>
                <a:lnTo>
                  <a:pt x="19111028" y="11033632"/>
                </a:lnTo>
                <a:lnTo>
                  <a:pt x="0" y="11033632"/>
                </a:lnTo>
                <a:lnTo>
                  <a:pt x="0" y="0"/>
                </a:lnTo>
                <a:close/>
              </a:path>
            </a:pathLst>
          </a:custGeom>
          <a:blipFill>
            <a:blip r:embed="rId4">
              <a:alphaModFix amt="14000"/>
            </a:blip>
            <a:stretch>
              <a:fillRect l="0" t="-47928" r="0" b="-56974"/>
            </a:stretch>
          </a:blipFill>
        </p:spPr>
      </p:sp>
      <p:sp>
        <p:nvSpPr>
          <p:cNvPr name="Freeform 4" id="4"/>
          <p:cNvSpPr/>
          <p:nvPr/>
        </p:nvSpPr>
        <p:spPr>
          <a:xfrm flipH="false" flipV="false" rot="0">
            <a:off x="-139934" y="0"/>
            <a:ext cx="4532959" cy="4245872"/>
          </a:xfrm>
          <a:custGeom>
            <a:avLst/>
            <a:gdLst/>
            <a:ahLst/>
            <a:cxnLst/>
            <a:rect r="r" b="b" t="t" l="l"/>
            <a:pathLst>
              <a:path h="4245872" w="4532959">
                <a:moveTo>
                  <a:pt x="0" y="0"/>
                </a:moveTo>
                <a:lnTo>
                  <a:pt x="4532959" y="0"/>
                </a:lnTo>
                <a:lnTo>
                  <a:pt x="4532959" y="4245872"/>
                </a:lnTo>
                <a:lnTo>
                  <a:pt x="0" y="424587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0026760" y="7563164"/>
            <a:ext cx="2237063" cy="1090333"/>
          </a:xfrm>
          <a:custGeom>
            <a:avLst/>
            <a:gdLst/>
            <a:ahLst/>
            <a:cxnLst/>
            <a:rect r="r" b="b" t="t" l="l"/>
            <a:pathLst>
              <a:path h="1090333" w="2237063">
                <a:moveTo>
                  <a:pt x="0" y="0"/>
                </a:moveTo>
                <a:lnTo>
                  <a:pt x="2237063" y="0"/>
                </a:lnTo>
                <a:lnTo>
                  <a:pt x="2237063" y="1090333"/>
                </a:lnTo>
                <a:lnTo>
                  <a:pt x="0" y="109033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0" y="466399"/>
            <a:ext cx="1885101" cy="1619230"/>
          </a:xfrm>
          <a:custGeom>
            <a:avLst/>
            <a:gdLst/>
            <a:ahLst/>
            <a:cxnLst/>
            <a:rect r="r" b="b" t="t" l="l"/>
            <a:pathLst>
              <a:path h="1619230" w="1885101">
                <a:moveTo>
                  <a:pt x="0" y="0"/>
                </a:moveTo>
                <a:lnTo>
                  <a:pt x="1885101" y="0"/>
                </a:lnTo>
                <a:lnTo>
                  <a:pt x="1885101" y="1619230"/>
                </a:lnTo>
                <a:lnTo>
                  <a:pt x="0" y="1619230"/>
                </a:lnTo>
                <a:lnTo>
                  <a:pt x="0" y="0"/>
                </a:lnTo>
                <a:close/>
              </a:path>
            </a:pathLst>
          </a:custGeom>
          <a:blipFill>
            <a:blip r:embed="rId9"/>
            <a:stretch>
              <a:fillRect l="0" t="-29178" r="0" b="-5350"/>
            </a:stretch>
          </a:blipFill>
        </p:spPr>
      </p:sp>
      <p:sp>
        <p:nvSpPr>
          <p:cNvPr name="Freeform 7" id="7"/>
          <p:cNvSpPr/>
          <p:nvPr/>
        </p:nvSpPr>
        <p:spPr>
          <a:xfrm flipH="false" flipV="false" rot="4126610">
            <a:off x="7194671" y="1956928"/>
            <a:ext cx="1054256" cy="633499"/>
          </a:xfrm>
          <a:custGeom>
            <a:avLst/>
            <a:gdLst/>
            <a:ahLst/>
            <a:cxnLst/>
            <a:rect r="r" b="b" t="t" l="l"/>
            <a:pathLst>
              <a:path h="633499" w="1054256">
                <a:moveTo>
                  <a:pt x="0" y="0"/>
                </a:moveTo>
                <a:lnTo>
                  <a:pt x="1054256" y="0"/>
                </a:lnTo>
                <a:lnTo>
                  <a:pt x="1054256" y="633499"/>
                </a:lnTo>
                <a:lnTo>
                  <a:pt x="0" y="63349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true" rot="6230249">
            <a:off x="846507" y="2080377"/>
            <a:ext cx="1054256" cy="633499"/>
          </a:xfrm>
          <a:custGeom>
            <a:avLst/>
            <a:gdLst/>
            <a:ahLst/>
            <a:cxnLst/>
            <a:rect r="r" b="b" t="t" l="l"/>
            <a:pathLst>
              <a:path h="633499" w="1054256">
                <a:moveTo>
                  <a:pt x="0" y="633499"/>
                </a:moveTo>
                <a:lnTo>
                  <a:pt x="1054256" y="633499"/>
                </a:lnTo>
                <a:lnTo>
                  <a:pt x="1054256" y="0"/>
                </a:lnTo>
                <a:lnTo>
                  <a:pt x="0" y="0"/>
                </a:lnTo>
                <a:lnTo>
                  <a:pt x="0" y="633499"/>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9" id="9"/>
          <p:cNvGrpSpPr/>
          <p:nvPr/>
        </p:nvGrpSpPr>
        <p:grpSpPr>
          <a:xfrm rot="0">
            <a:off x="-80169" y="9509796"/>
            <a:ext cx="18368169" cy="777204"/>
            <a:chOff x="0" y="0"/>
            <a:chExt cx="4837707" cy="204696"/>
          </a:xfrm>
        </p:grpSpPr>
        <p:sp>
          <p:nvSpPr>
            <p:cNvPr name="Freeform 10" id="10"/>
            <p:cNvSpPr/>
            <p:nvPr/>
          </p:nvSpPr>
          <p:spPr>
            <a:xfrm flipH="false" flipV="false" rot="0">
              <a:off x="0" y="0"/>
              <a:ext cx="4837707" cy="204696"/>
            </a:xfrm>
            <a:custGeom>
              <a:avLst/>
              <a:gdLst/>
              <a:ahLst/>
              <a:cxnLst/>
              <a:rect r="r" b="b" t="t" l="l"/>
              <a:pathLst>
                <a:path h="204696" w="4837707">
                  <a:moveTo>
                    <a:pt x="0" y="0"/>
                  </a:moveTo>
                  <a:lnTo>
                    <a:pt x="4837707" y="0"/>
                  </a:lnTo>
                  <a:lnTo>
                    <a:pt x="4837707" y="204696"/>
                  </a:lnTo>
                  <a:lnTo>
                    <a:pt x="0" y="204696"/>
                  </a:lnTo>
                  <a:close/>
                </a:path>
              </a:pathLst>
            </a:custGeom>
            <a:solidFill>
              <a:srgbClr val="00004D"/>
            </a:solidFill>
          </p:spPr>
        </p:sp>
        <p:sp>
          <p:nvSpPr>
            <p:cNvPr name="TextBox 11" id="11"/>
            <p:cNvSpPr txBox="true"/>
            <p:nvPr/>
          </p:nvSpPr>
          <p:spPr>
            <a:xfrm>
              <a:off x="0" y="-38100"/>
              <a:ext cx="4837707" cy="242796"/>
            </a:xfrm>
            <a:prstGeom prst="rect">
              <a:avLst/>
            </a:prstGeom>
          </p:spPr>
          <p:txBody>
            <a:bodyPr anchor="ctr" rtlCol="false" tIns="50800" lIns="50800" bIns="50800" rIns="50800"/>
            <a:lstStyle/>
            <a:p>
              <a:pPr algn="ctr">
                <a:lnSpc>
                  <a:spcPts val="3194"/>
                </a:lnSpc>
              </a:pPr>
            </a:p>
          </p:txBody>
        </p:sp>
      </p:grpSp>
      <p:sp>
        <p:nvSpPr>
          <p:cNvPr name="Freeform 12" id="12"/>
          <p:cNvSpPr/>
          <p:nvPr/>
        </p:nvSpPr>
        <p:spPr>
          <a:xfrm flipH="false" flipV="false" rot="0">
            <a:off x="851649" y="9637405"/>
            <a:ext cx="521987" cy="521987"/>
          </a:xfrm>
          <a:custGeom>
            <a:avLst/>
            <a:gdLst/>
            <a:ahLst/>
            <a:cxnLst/>
            <a:rect r="r" b="b" t="t" l="l"/>
            <a:pathLst>
              <a:path h="521987" w="521987">
                <a:moveTo>
                  <a:pt x="0" y="0"/>
                </a:moveTo>
                <a:lnTo>
                  <a:pt x="521986" y="0"/>
                </a:lnTo>
                <a:lnTo>
                  <a:pt x="521986" y="521986"/>
                </a:lnTo>
                <a:lnTo>
                  <a:pt x="0" y="52198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0">
            <a:off x="13615605" y="9637405"/>
            <a:ext cx="379120" cy="629958"/>
          </a:xfrm>
          <a:custGeom>
            <a:avLst/>
            <a:gdLst/>
            <a:ahLst/>
            <a:cxnLst/>
            <a:rect r="r" b="b" t="t" l="l"/>
            <a:pathLst>
              <a:path h="629958" w="379120">
                <a:moveTo>
                  <a:pt x="0" y="0"/>
                </a:moveTo>
                <a:lnTo>
                  <a:pt x="379121" y="0"/>
                </a:lnTo>
                <a:lnTo>
                  <a:pt x="379121" y="629957"/>
                </a:lnTo>
                <a:lnTo>
                  <a:pt x="0" y="629957"/>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grpSp>
        <p:nvGrpSpPr>
          <p:cNvPr name="Group 14" id="14"/>
          <p:cNvGrpSpPr/>
          <p:nvPr/>
        </p:nvGrpSpPr>
        <p:grpSpPr>
          <a:xfrm rot="0">
            <a:off x="1885101" y="6318746"/>
            <a:ext cx="3497378" cy="821676"/>
            <a:chOff x="0" y="0"/>
            <a:chExt cx="4663171" cy="1095568"/>
          </a:xfrm>
        </p:grpSpPr>
        <p:sp>
          <p:nvSpPr>
            <p:cNvPr name="TextBox 15" id="15"/>
            <p:cNvSpPr txBox="true"/>
            <p:nvPr/>
          </p:nvSpPr>
          <p:spPr>
            <a:xfrm rot="0">
              <a:off x="0" y="-57150"/>
              <a:ext cx="3605187" cy="603124"/>
            </a:xfrm>
            <a:prstGeom prst="rect">
              <a:avLst/>
            </a:prstGeom>
          </p:spPr>
          <p:txBody>
            <a:bodyPr anchor="t" rtlCol="false" tIns="0" lIns="0" bIns="0" rIns="0">
              <a:spAutoFit/>
            </a:bodyPr>
            <a:lstStyle/>
            <a:p>
              <a:pPr algn="l">
                <a:lnSpc>
                  <a:spcPts val="3819"/>
                </a:lnSpc>
              </a:pPr>
              <a:r>
                <a:rPr lang="en-US" sz="2728" b="true">
                  <a:solidFill>
                    <a:srgbClr val="000000"/>
                  </a:solidFill>
                  <a:latin typeface="Inter Bold"/>
                  <a:ea typeface="Inter Bold"/>
                  <a:cs typeface="Inter Bold"/>
                  <a:sym typeface="Inter Bold"/>
                </a:rPr>
                <a:t>Disusun Oleh :</a:t>
              </a:r>
            </a:p>
          </p:txBody>
        </p:sp>
        <p:sp>
          <p:nvSpPr>
            <p:cNvPr name="TextBox 16" id="16"/>
            <p:cNvSpPr txBox="true"/>
            <p:nvPr/>
          </p:nvSpPr>
          <p:spPr>
            <a:xfrm rot="0">
              <a:off x="0" y="492445"/>
              <a:ext cx="4663171" cy="603124"/>
            </a:xfrm>
            <a:prstGeom prst="rect">
              <a:avLst/>
            </a:prstGeom>
          </p:spPr>
          <p:txBody>
            <a:bodyPr anchor="t" rtlCol="false" tIns="0" lIns="0" bIns="0" rIns="0">
              <a:spAutoFit/>
            </a:bodyPr>
            <a:lstStyle/>
            <a:p>
              <a:pPr algn="l">
                <a:lnSpc>
                  <a:spcPts val="3819"/>
                </a:lnSpc>
              </a:pPr>
              <a:r>
                <a:rPr lang="en-US" sz="2728" b="true">
                  <a:solidFill>
                    <a:srgbClr val="000000"/>
                  </a:solidFill>
                  <a:latin typeface="Inter Bold"/>
                  <a:ea typeface="Inter Bold"/>
                  <a:cs typeface="Inter Bold"/>
                  <a:sym typeface="Inter Bold"/>
                </a:rPr>
                <a:t>SYEHAN PERMANA</a:t>
              </a:r>
            </a:p>
          </p:txBody>
        </p:sp>
      </p:grpSp>
      <p:sp>
        <p:nvSpPr>
          <p:cNvPr name="TextBox 17" id="17"/>
          <p:cNvSpPr txBox="true"/>
          <p:nvPr/>
        </p:nvSpPr>
        <p:spPr>
          <a:xfrm rot="0">
            <a:off x="1807265" y="2179626"/>
            <a:ext cx="5627021" cy="1438724"/>
          </a:xfrm>
          <a:prstGeom prst="rect">
            <a:avLst/>
          </a:prstGeom>
        </p:spPr>
        <p:txBody>
          <a:bodyPr anchor="t" rtlCol="false" tIns="0" lIns="0" bIns="0" rIns="0">
            <a:spAutoFit/>
          </a:bodyPr>
          <a:lstStyle/>
          <a:p>
            <a:pPr algn="l">
              <a:lnSpc>
                <a:spcPts val="11722"/>
              </a:lnSpc>
            </a:pPr>
            <a:r>
              <a:rPr lang="en-US" sz="8372">
                <a:solidFill>
                  <a:srgbClr val="000000"/>
                </a:solidFill>
                <a:latin typeface="Archivo Black"/>
                <a:ea typeface="Archivo Black"/>
                <a:cs typeface="Archivo Black"/>
                <a:sym typeface="Archivo Black"/>
              </a:rPr>
              <a:t>TUPOKSI</a:t>
            </a:r>
          </a:p>
        </p:txBody>
      </p:sp>
      <p:sp>
        <p:nvSpPr>
          <p:cNvPr name="TextBox 18" id="18"/>
          <p:cNvSpPr txBox="true"/>
          <p:nvPr/>
        </p:nvSpPr>
        <p:spPr>
          <a:xfrm rot="0">
            <a:off x="1928835" y="3340038"/>
            <a:ext cx="7688580" cy="905833"/>
          </a:xfrm>
          <a:prstGeom prst="rect">
            <a:avLst/>
          </a:prstGeom>
        </p:spPr>
        <p:txBody>
          <a:bodyPr anchor="t" rtlCol="false" tIns="0" lIns="0" bIns="0" rIns="0">
            <a:spAutoFit/>
          </a:bodyPr>
          <a:lstStyle/>
          <a:p>
            <a:pPr algn="l">
              <a:lnSpc>
                <a:spcPts val="7297"/>
              </a:lnSpc>
            </a:pPr>
            <a:r>
              <a:rPr lang="en-US" sz="5212">
                <a:solidFill>
                  <a:srgbClr val="000000"/>
                </a:solidFill>
                <a:latin typeface="Archivo Black"/>
                <a:ea typeface="Archivo Black"/>
                <a:cs typeface="Archivo Black"/>
                <a:sym typeface="Archivo Black"/>
              </a:rPr>
              <a:t>DAN FUNGSI DIVISI</a:t>
            </a:r>
          </a:p>
        </p:txBody>
      </p:sp>
      <p:sp>
        <p:nvSpPr>
          <p:cNvPr name="TextBox 19" id="19"/>
          <p:cNvSpPr txBox="true"/>
          <p:nvPr/>
        </p:nvSpPr>
        <p:spPr>
          <a:xfrm rot="0">
            <a:off x="1928835" y="4562535"/>
            <a:ext cx="8097925" cy="1180980"/>
          </a:xfrm>
          <a:prstGeom prst="rect">
            <a:avLst/>
          </a:prstGeom>
        </p:spPr>
        <p:txBody>
          <a:bodyPr anchor="t" rtlCol="false" tIns="0" lIns="0" bIns="0" rIns="0">
            <a:spAutoFit/>
          </a:bodyPr>
          <a:lstStyle/>
          <a:p>
            <a:pPr algn="just">
              <a:lnSpc>
                <a:spcPts val="3136"/>
              </a:lnSpc>
            </a:pPr>
            <a:r>
              <a:rPr lang="en-US" sz="2800" b="true">
                <a:solidFill>
                  <a:srgbClr val="000000"/>
                </a:solidFill>
                <a:latin typeface="Inter Bold"/>
                <a:ea typeface="Inter Bold"/>
                <a:cs typeface="Inter Bold"/>
                <a:sym typeface="Inter Bold"/>
              </a:rPr>
              <a:t>Mengacu Kepada SK Nomor 401.1 Tahun 2025 tentang Juknis Tata Kelola MBG TA 2026 (2)</a:t>
            </a:r>
          </a:p>
          <a:p>
            <a:pPr algn="just">
              <a:lnSpc>
                <a:spcPts val="3136"/>
              </a:lnSpc>
            </a:pPr>
            <a:r>
              <a:rPr lang="en-US" sz="2800" b="true">
                <a:solidFill>
                  <a:srgbClr val="000000"/>
                </a:solidFill>
                <a:latin typeface="Inter Bold"/>
                <a:ea typeface="Inter Bold"/>
                <a:cs typeface="Inter Bold"/>
                <a:sym typeface="Inter Bold"/>
              </a:rPr>
              <a:t>Dan Peran fungsi Setiap divisi</a:t>
            </a:r>
          </a:p>
        </p:txBody>
      </p:sp>
      <p:sp>
        <p:nvSpPr>
          <p:cNvPr name="TextBox 20" id="20"/>
          <p:cNvSpPr txBox="true"/>
          <p:nvPr/>
        </p:nvSpPr>
        <p:spPr>
          <a:xfrm rot="0">
            <a:off x="1807265" y="8392281"/>
            <a:ext cx="7064460" cy="465283"/>
          </a:xfrm>
          <a:prstGeom prst="rect">
            <a:avLst/>
          </a:prstGeom>
        </p:spPr>
        <p:txBody>
          <a:bodyPr anchor="t" rtlCol="false" tIns="0" lIns="0" bIns="0" rIns="0">
            <a:spAutoFit/>
          </a:bodyPr>
          <a:lstStyle/>
          <a:p>
            <a:pPr algn="l">
              <a:lnSpc>
                <a:spcPts val="3754"/>
              </a:lnSpc>
            </a:pPr>
            <a:r>
              <a:rPr lang="en-US" sz="2681" b="true">
                <a:solidFill>
                  <a:srgbClr val="000000"/>
                </a:solidFill>
                <a:latin typeface="Inter Bold"/>
                <a:ea typeface="Inter Bold"/>
                <a:cs typeface="Inter Bold"/>
                <a:sym typeface="Inter Bold"/>
              </a:rPr>
              <a:t>https://sipgn-sipsmo-web.bgn.go.id/Sign</a:t>
            </a:r>
          </a:p>
        </p:txBody>
      </p:sp>
      <p:grpSp>
        <p:nvGrpSpPr>
          <p:cNvPr name="Group 21" id="21"/>
          <p:cNvGrpSpPr/>
          <p:nvPr/>
        </p:nvGrpSpPr>
        <p:grpSpPr>
          <a:xfrm rot="0">
            <a:off x="1807265" y="884392"/>
            <a:ext cx="3881590" cy="783245"/>
            <a:chOff x="0" y="0"/>
            <a:chExt cx="5175454" cy="1044327"/>
          </a:xfrm>
        </p:grpSpPr>
        <p:sp>
          <p:nvSpPr>
            <p:cNvPr name="TextBox 22" id="22"/>
            <p:cNvSpPr txBox="true"/>
            <p:nvPr/>
          </p:nvSpPr>
          <p:spPr>
            <a:xfrm rot="0">
              <a:off x="0" y="474538"/>
              <a:ext cx="4606605" cy="569788"/>
            </a:xfrm>
            <a:prstGeom prst="rect">
              <a:avLst/>
            </a:prstGeom>
          </p:spPr>
          <p:txBody>
            <a:bodyPr anchor="t" rtlCol="false" tIns="0" lIns="0" bIns="0" rIns="0">
              <a:spAutoFit/>
            </a:bodyPr>
            <a:lstStyle/>
            <a:p>
              <a:pPr algn="l">
                <a:lnSpc>
                  <a:spcPts val="3614"/>
                </a:lnSpc>
              </a:pPr>
              <a:r>
                <a:rPr lang="en-US" sz="2581" b="true">
                  <a:solidFill>
                    <a:srgbClr val="000000"/>
                  </a:solidFill>
                  <a:latin typeface="Inter Bold"/>
                  <a:ea typeface="Inter Bold"/>
                  <a:cs typeface="Inter Bold"/>
                  <a:sym typeface="Inter Bold"/>
                </a:rPr>
                <a:t>Sppg Sindang Asih</a:t>
              </a:r>
            </a:p>
          </p:txBody>
        </p:sp>
        <p:sp>
          <p:nvSpPr>
            <p:cNvPr name="TextBox 23" id="23"/>
            <p:cNvSpPr txBox="true"/>
            <p:nvPr/>
          </p:nvSpPr>
          <p:spPr>
            <a:xfrm rot="0">
              <a:off x="0" y="-47625"/>
              <a:ext cx="5175454" cy="569788"/>
            </a:xfrm>
            <a:prstGeom prst="rect">
              <a:avLst/>
            </a:prstGeom>
          </p:spPr>
          <p:txBody>
            <a:bodyPr anchor="t" rtlCol="false" tIns="0" lIns="0" bIns="0" rIns="0">
              <a:spAutoFit/>
            </a:bodyPr>
            <a:lstStyle/>
            <a:p>
              <a:pPr algn="l">
                <a:lnSpc>
                  <a:spcPts val="3614"/>
                </a:lnSpc>
              </a:pPr>
              <a:r>
                <a:rPr lang="en-US" sz="2581" b="true">
                  <a:solidFill>
                    <a:srgbClr val="000000"/>
                  </a:solidFill>
                  <a:latin typeface="Inter Bold"/>
                  <a:ea typeface="Inter Bold"/>
                  <a:cs typeface="Inter Bold"/>
                  <a:sym typeface="Inter Bold"/>
                </a:rPr>
                <a:t>Badan Gizi Nasional</a:t>
              </a:r>
            </a:p>
          </p:txBody>
        </p:sp>
      </p:grpSp>
      <p:sp>
        <p:nvSpPr>
          <p:cNvPr name="TextBox 24" id="24"/>
          <p:cNvSpPr txBox="true"/>
          <p:nvPr/>
        </p:nvSpPr>
        <p:spPr>
          <a:xfrm rot="0">
            <a:off x="1467304" y="9671472"/>
            <a:ext cx="3063289" cy="406227"/>
          </a:xfrm>
          <a:prstGeom prst="rect">
            <a:avLst/>
          </a:prstGeom>
        </p:spPr>
        <p:txBody>
          <a:bodyPr anchor="t" rtlCol="false" tIns="0" lIns="0" bIns="0" rIns="0">
            <a:spAutoFit/>
          </a:bodyPr>
          <a:lstStyle/>
          <a:p>
            <a:pPr algn="l">
              <a:lnSpc>
                <a:spcPts val="3334"/>
              </a:lnSpc>
            </a:pPr>
            <a:r>
              <a:rPr lang="en-US" sz="2381" b="true">
                <a:solidFill>
                  <a:srgbClr val="FFFFFF"/>
                </a:solidFill>
                <a:latin typeface="Inter Bold"/>
                <a:ea typeface="Inter Bold"/>
                <a:cs typeface="Inter Bold"/>
                <a:sym typeface="Inter Bold"/>
              </a:rPr>
              <a:t>SPPG SINDANGASIH</a:t>
            </a:r>
          </a:p>
        </p:txBody>
      </p:sp>
      <p:sp>
        <p:nvSpPr>
          <p:cNvPr name="TextBox 25" id="25"/>
          <p:cNvSpPr txBox="true"/>
          <p:nvPr/>
        </p:nvSpPr>
        <p:spPr>
          <a:xfrm rot="0">
            <a:off x="14264611" y="9599305"/>
            <a:ext cx="3625020" cy="657052"/>
          </a:xfrm>
          <a:prstGeom prst="rect">
            <a:avLst/>
          </a:prstGeom>
        </p:spPr>
        <p:txBody>
          <a:bodyPr anchor="t" rtlCol="false" tIns="0" lIns="0" bIns="0" rIns="0">
            <a:spAutoFit/>
          </a:bodyPr>
          <a:lstStyle/>
          <a:p>
            <a:pPr algn="just">
              <a:lnSpc>
                <a:spcPts val="2634"/>
              </a:lnSpc>
            </a:pPr>
            <a:r>
              <a:rPr lang="en-US" sz="1881" b="true">
                <a:solidFill>
                  <a:srgbClr val="FFFFFF"/>
                </a:solidFill>
                <a:latin typeface="Inter Bold"/>
                <a:ea typeface="Inter Bold"/>
                <a:cs typeface="Inter Bold"/>
                <a:sym typeface="Inter Bold"/>
              </a:rPr>
              <a:t>Jl. Pamokolan, Sindangasih</a:t>
            </a:r>
          </a:p>
          <a:p>
            <a:pPr algn="just">
              <a:lnSpc>
                <a:spcPts val="2634"/>
              </a:lnSpc>
            </a:pPr>
            <a:r>
              <a:rPr lang="en-US" sz="1881" b="true">
                <a:solidFill>
                  <a:srgbClr val="FFFFFF"/>
                </a:solidFill>
                <a:latin typeface="Inter Bold"/>
                <a:ea typeface="Inter Bold"/>
                <a:cs typeface="Inter Bold"/>
                <a:sym typeface="Inter Bold"/>
              </a:rPr>
              <a:t> Kec.Karangtengah Jawa Barat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true" flipV="false" rot="0">
            <a:off x="0" y="6623175"/>
            <a:ext cx="5688855" cy="3977458"/>
          </a:xfrm>
          <a:custGeom>
            <a:avLst/>
            <a:gdLst/>
            <a:ahLst/>
            <a:cxnLst/>
            <a:rect r="r" b="b" t="t" l="l"/>
            <a:pathLst>
              <a:path h="3977458" w="5688855">
                <a:moveTo>
                  <a:pt x="5688855" y="0"/>
                </a:moveTo>
                <a:lnTo>
                  <a:pt x="0" y="0"/>
                </a:lnTo>
                <a:lnTo>
                  <a:pt x="0" y="3977458"/>
                </a:lnTo>
                <a:lnTo>
                  <a:pt x="5688855" y="3977458"/>
                </a:lnTo>
                <a:lnTo>
                  <a:pt x="5688855" y="0"/>
                </a:lnTo>
                <a:close/>
              </a:path>
            </a:pathLst>
          </a:custGeom>
          <a:blipFill>
            <a:blip r:embed="rId2">
              <a:alphaModFix amt="49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9934" y="0"/>
            <a:ext cx="4532959" cy="4245872"/>
          </a:xfrm>
          <a:custGeom>
            <a:avLst/>
            <a:gdLst/>
            <a:ahLst/>
            <a:cxnLst/>
            <a:rect r="r" b="b" t="t" l="l"/>
            <a:pathLst>
              <a:path h="4245872" w="4532959">
                <a:moveTo>
                  <a:pt x="0" y="0"/>
                </a:moveTo>
                <a:lnTo>
                  <a:pt x="4532959" y="0"/>
                </a:lnTo>
                <a:lnTo>
                  <a:pt x="4532959" y="4245872"/>
                </a:lnTo>
                <a:lnTo>
                  <a:pt x="0" y="42458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39934" y="-776"/>
            <a:ext cx="1885101" cy="1619230"/>
          </a:xfrm>
          <a:custGeom>
            <a:avLst/>
            <a:gdLst/>
            <a:ahLst/>
            <a:cxnLst/>
            <a:rect r="r" b="b" t="t" l="l"/>
            <a:pathLst>
              <a:path h="1619230" w="1885101">
                <a:moveTo>
                  <a:pt x="0" y="0"/>
                </a:moveTo>
                <a:lnTo>
                  <a:pt x="1885101" y="0"/>
                </a:lnTo>
                <a:lnTo>
                  <a:pt x="1885101" y="1619229"/>
                </a:lnTo>
                <a:lnTo>
                  <a:pt x="0" y="1619229"/>
                </a:lnTo>
                <a:lnTo>
                  <a:pt x="0" y="0"/>
                </a:lnTo>
                <a:close/>
              </a:path>
            </a:pathLst>
          </a:custGeom>
          <a:blipFill>
            <a:blip r:embed="rId6"/>
            <a:stretch>
              <a:fillRect l="0" t="-29178" r="0" b="-5350"/>
            </a:stretch>
          </a:blipFill>
        </p:spPr>
      </p:sp>
      <p:grpSp>
        <p:nvGrpSpPr>
          <p:cNvPr name="Group 5" id="5"/>
          <p:cNvGrpSpPr/>
          <p:nvPr/>
        </p:nvGrpSpPr>
        <p:grpSpPr>
          <a:xfrm rot="0">
            <a:off x="-80169" y="9509796"/>
            <a:ext cx="18368169" cy="777204"/>
            <a:chOff x="0" y="0"/>
            <a:chExt cx="4837707" cy="204696"/>
          </a:xfrm>
        </p:grpSpPr>
        <p:sp>
          <p:nvSpPr>
            <p:cNvPr name="Freeform 6" id="6"/>
            <p:cNvSpPr/>
            <p:nvPr/>
          </p:nvSpPr>
          <p:spPr>
            <a:xfrm flipH="false" flipV="false" rot="0">
              <a:off x="0" y="0"/>
              <a:ext cx="4837707" cy="204696"/>
            </a:xfrm>
            <a:custGeom>
              <a:avLst/>
              <a:gdLst/>
              <a:ahLst/>
              <a:cxnLst/>
              <a:rect r="r" b="b" t="t" l="l"/>
              <a:pathLst>
                <a:path h="204696" w="4837707">
                  <a:moveTo>
                    <a:pt x="0" y="0"/>
                  </a:moveTo>
                  <a:lnTo>
                    <a:pt x="4837707" y="0"/>
                  </a:lnTo>
                  <a:lnTo>
                    <a:pt x="4837707" y="204696"/>
                  </a:lnTo>
                  <a:lnTo>
                    <a:pt x="0" y="204696"/>
                  </a:lnTo>
                  <a:close/>
                </a:path>
              </a:pathLst>
            </a:custGeom>
            <a:solidFill>
              <a:srgbClr val="00004D"/>
            </a:solidFill>
          </p:spPr>
        </p:sp>
        <p:sp>
          <p:nvSpPr>
            <p:cNvPr name="TextBox 7" id="7"/>
            <p:cNvSpPr txBox="true"/>
            <p:nvPr/>
          </p:nvSpPr>
          <p:spPr>
            <a:xfrm>
              <a:off x="0" y="-38100"/>
              <a:ext cx="4837707" cy="242796"/>
            </a:xfrm>
            <a:prstGeom prst="rect">
              <a:avLst/>
            </a:prstGeom>
          </p:spPr>
          <p:txBody>
            <a:bodyPr anchor="ctr" rtlCol="false" tIns="50800" lIns="50800" bIns="50800" rIns="50800"/>
            <a:lstStyle/>
            <a:p>
              <a:pPr algn="ctr">
                <a:lnSpc>
                  <a:spcPts val="3194"/>
                </a:lnSpc>
              </a:pPr>
            </a:p>
          </p:txBody>
        </p:sp>
      </p:grpSp>
      <p:grpSp>
        <p:nvGrpSpPr>
          <p:cNvPr name="Group 8" id="8"/>
          <p:cNvGrpSpPr/>
          <p:nvPr/>
        </p:nvGrpSpPr>
        <p:grpSpPr>
          <a:xfrm rot="0">
            <a:off x="1546572" y="417216"/>
            <a:ext cx="3881590" cy="783245"/>
            <a:chOff x="0" y="0"/>
            <a:chExt cx="5175454" cy="1044327"/>
          </a:xfrm>
        </p:grpSpPr>
        <p:sp>
          <p:nvSpPr>
            <p:cNvPr name="TextBox 9" id="9"/>
            <p:cNvSpPr txBox="true"/>
            <p:nvPr/>
          </p:nvSpPr>
          <p:spPr>
            <a:xfrm rot="0">
              <a:off x="0" y="474538"/>
              <a:ext cx="4606605" cy="569788"/>
            </a:xfrm>
            <a:prstGeom prst="rect">
              <a:avLst/>
            </a:prstGeom>
          </p:spPr>
          <p:txBody>
            <a:bodyPr anchor="t" rtlCol="false" tIns="0" lIns="0" bIns="0" rIns="0">
              <a:spAutoFit/>
            </a:bodyPr>
            <a:lstStyle/>
            <a:p>
              <a:pPr algn="l">
                <a:lnSpc>
                  <a:spcPts val="3614"/>
                </a:lnSpc>
              </a:pPr>
              <a:r>
                <a:rPr lang="en-US" sz="2581" b="true">
                  <a:solidFill>
                    <a:srgbClr val="000000"/>
                  </a:solidFill>
                  <a:latin typeface="Inter Bold"/>
                  <a:ea typeface="Inter Bold"/>
                  <a:cs typeface="Inter Bold"/>
                  <a:sym typeface="Inter Bold"/>
                </a:rPr>
                <a:t>Sppg Sindang Asih</a:t>
              </a:r>
            </a:p>
          </p:txBody>
        </p:sp>
        <p:sp>
          <p:nvSpPr>
            <p:cNvPr name="TextBox 10" id="10"/>
            <p:cNvSpPr txBox="true"/>
            <p:nvPr/>
          </p:nvSpPr>
          <p:spPr>
            <a:xfrm rot="0">
              <a:off x="0" y="-47625"/>
              <a:ext cx="5175454" cy="569788"/>
            </a:xfrm>
            <a:prstGeom prst="rect">
              <a:avLst/>
            </a:prstGeom>
          </p:spPr>
          <p:txBody>
            <a:bodyPr anchor="t" rtlCol="false" tIns="0" lIns="0" bIns="0" rIns="0">
              <a:spAutoFit/>
            </a:bodyPr>
            <a:lstStyle/>
            <a:p>
              <a:pPr algn="l">
                <a:lnSpc>
                  <a:spcPts val="3614"/>
                </a:lnSpc>
              </a:pPr>
              <a:r>
                <a:rPr lang="en-US" sz="2581" b="true">
                  <a:solidFill>
                    <a:srgbClr val="000000"/>
                  </a:solidFill>
                  <a:latin typeface="Inter Bold"/>
                  <a:ea typeface="Inter Bold"/>
                  <a:cs typeface="Inter Bold"/>
                  <a:sym typeface="Inter Bold"/>
                </a:rPr>
                <a:t>Badan Gizi Nasional</a:t>
              </a:r>
            </a:p>
          </p:txBody>
        </p:sp>
      </p:grpSp>
      <p:sp>
        <p:nvSpPr>
          <p:cNvPr name="TextBox 11" id="11"/>
          <p:cNvSpPr txBox="true"/>
          <p:nvPr/>
        </p:nvSpPr>
        <p:spPr>
          <a:xfrm rot="0">
            <a:off x="6059576" y="1057275"/>
            <a:ext cx="6088679" cy="905764"/>
          </a:xfrm>
          <a:prstGeom prst="rect">
            <a:avLst/>
          </a:prstGeom>
        </p:spPr>
        <p:txBody>
          <a:bodyPr anchor="t" rtlCol="false" tIns="0" lIns="0" bIns="0" rIns="0">
            <a:spAutoFit/>
          </a:bodyPr>
          <a:lstStyle/>
          <a:p>
            <a:pPr algn="ctr">
              <a:lnSpc>
                <a:spcPts val="7061"/>
              </a:lnSpc>
            </a:pPr>
            <a:r>
              <a:rPr lang="en-US" sz="6140">
                <a:solidFill>
                  <a:srgbClr val="000000"/>
                </a:solidFill>
                <a:latin typeface="Rye"/>
                <a:ea typeface="Rye"/>
                <a:cs typeface="Rye"/>
                <a:sym typeface="Rye"/>
              </a:rPr>
              <a:t>KETUA SPPG</a:t>
            </a:r>
          </a:p>
        </p:txBody>
      </p:sp>
      <p:sp>
        <p:nvSpPr>
          <p:cNvPr name="TextBox 12" id="12"/>
          <p:cNvSpPr txBox="true"/>
          <p:nvPr/>
        </p:nvSpPr>
        <p:spPr>
          <a:xfrm rot="0">
            <a:off x="1028700" y="2471561"/>
            <a:ext cx="16781641" cy="6548762"/>
          </a:xfrm>
          <a:prstGeom prst="rect">
            <a:avLst/>
          </a:prstGeom>
        </p:spPr>
        <p:txBody>
          <a:bodyPr anchor="t" rtlCol="false" tIns="0" lIns="0" bIns="0" rIns="0">
            <a:spAutoFit/>
          </a:bodyPr>
          <a:lstStyle/>
          <a:p>
            <a:pPr algn="just">
              <a:lnSpc>
                <a:spcPts val="3710"/>
              </a:lnSpc>
            </a:pPr>
            <a:r>
              <a:rPr lang="en-US" sz="3313" b="true">
                <a:solidFill>
                  <a:srgbClr val="000000"/>
                </a:solidFill>
                <a:latin typeface="Inter Bold"/>
                <a:ea typeface="Inter Bold"/>
                <a:cs typeface="Inter Bold"/>
                <a:sym typeface="Inter Bold"/>
              </a:rPr>
              <a:t>Berikut tugas dan tanggung jawab kepala Satuan </a:t>
            </a:r>
            <a:r>
              <a:rPr lang="en-US" sz="3313" b="true">
                <a:solidFill>
                  <a:srgbClr val="000000"/>
                </a:solidFill>
                <a:latin typeface="Inter Bold"/>
                <a:ea typeface="Inter Bold"/>
                <a:cs typeface="Inter Bold"/>
                <a:sym typeface="Inter Bold"/>
              </a:rPr>
              <a:t>Pelayanan Pemenuhan Gizi</a:t>
            </a:r>
          </a:p>
          <a:p>
            <a:pPr algn="just">
              <a:lnSpc>
                <a:spcPts val="3710"/>
              </a:lnSpc>
            </a:pPr>
            <a:r>
              <a:rPr lang="en-US" sz="3313" b="true">
                <a:solidFill>
                  <a:srgbClr val="000000"/>
                </a:solidFill>
                <a:latin typeface="Inter Bold"/>
                <a:ea typeface="Inter Bold"/>
                <a:cs typeface="Inter Bold"/>
                <a:sym typeface="Inter Bold"/>
              </a:rPr>
              <a:t>(Kepala Sppg) yaitu : </a:t>
            </a:r>
          </a:p>
          <a:p>
            <a:pPr algn="just">
              <a:lnSpc>
                <a:spcPts val="3710"/>
              </a:lnSpc>
            </a:pPr>
            <a:r>
              <a:rPr lang="en-US" sz="3313" b="true">
                <a:solidFill>
                  <a:srgbClr val="000000"/>
                </a:solidFill>
                <a:latin typeface="Inter Bold"/>
                <a:ea typeface="Inter Bold"/>
                <a:cs typeface="Inter Bold"/>
                <a:sym typeface="Inter Bold"/>
              </a:rPr>
              <a:t>a)Melakukan tugas sebagai approver VA terhadap pengajuan transaksi dari</a:t>
            </a:r>
            <a:r>
              <a:rPr lang="en-US" sz="3313" b="true">
                <a:solidFill>
                  <a:srgbClr val="000000"/>
                </a:solidFill>
                <a:latin typeface="Inter Bold"/>
                <a:ea typeface="Inter Bold"/>
                <a:cs typeface="Inter Bold"/>
                <a:sym typeface="Inter Bold"/>
              </a:rPr>
              <a:t> perwakilan yayasan (maker) maksimal dalam 24 jam sejak pengajuan oleh maker. </a:t>
            </a:r>
          </a:p>
          <a:p>
            <a:pPr algn="just">
              <a:lnSpc>
                <a:spcPts val="3710"/>
              </a:lnSpc>
            </a:pPr>
            <a:r>
              <a:rPr lang="en-US" sz="3313" b="true">
                <a:solidFill>
                  <a:srgbClr val="000000"/>
                </a:solidFill>
                <a:latin typeface="Inter Bold"/>
                <a:ea typeface="Inter Bold"/>
                <a:cs typeface="Inter Bold"/>
                <a:sym typeface="Inter Bold"/>
              </a:rPr>
              <a:t>b) Memastikan seluruh kegiatan operasional harian SPPG mulai dari produksi hingga distribusi, termasuk melakukan evaluasi mingguan. </a:t>
            </a:r>
          </a:p>
          <a:p>
            <a:pPr algn="just">
              <a:lnSpc>
                <a:spcPts val="3710"/>
              </a:lnSpc>
            </a:pPr>
            <a:r>
              <a:rPr lang="en-US" sz="3313" b="true">
                <a:solidFill>
                  <a:srgbClr val="000000"/>
                </a:solidFill>
                <a:latin typeface="Inter Bold"/>
                <a:ea typeface="Inter Bold"/>
                <a:cs typeface="Inter Bold"/>
                <a:sym typeface="Inter Bold"/>
              </a:rPr>
              <a:t>c) Memastikan terpenuhinya standar kualitas bahan baku, makanan, pelayanan, sanitasi lingkungan, pergudangan, dan melakukan pembersihan terhadap hama secara masal sebulan sekali sesuai dengan ketentuan dari BGN. </a:t>
            </a:r>
          </a:p>
          <a:p>
            <a:pPr algn="just">
              <a:lnSpc>
                <a:spcPts val="3710"/>
              </a:lnSpc>
            </a:pPr>
            <a:r>
              <a:rPr lang="en-US" sz="3313" b="true">
                <a:solidFill>
                  <a:srgbClr val="000000"/>
                </a:solidFill>
                <a:latin typeface="Inter Bold"/>
                <a:ea typeface="Inter Bold"/>
                <a:cs typeface="Inter Bold"/>
                <a:sym typeface="Inter Bold"/>
              </a:rPr>
              <a:t>d) Memeriksa dan memverifikasi pelaksanaan pengadaan bahan baku oleh Yayasan untuk memastikan kesesuaiannya terhadap kriteria objektif yang ditetapkan BGN, yaitu: </a:t>
            </a:r>
          </a:p>
          <a:p>
            <a:pPr algn="just">
              <a:lnSpc>
                <a:spcPts val="3710"/>
              </a:lnSpc>
            </a:pPr>
          </a:p>
          <a:p>
            <a:pPr algn="just">
              <a:lnSpc>
                <a:spcPts val="3710"/>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true" flipV="false" rot="0">
            <a:off x="0" y="6623175"/>
            <a:ext cx="5688855" cy="3977458"/>
          </a:xfrm>
          <a:custGeom>
            <a:avLst/>
            <a:gdLst/>
            <a:ahLst/>
            <a:cxnLst/>
            <a:rect r="r" b="b" t="t" l="l"/>
            <a:pathLst>
              <a:path h="3977458" w="5688855">
                <a:moveTo>
                  <a:pt x="5688855" y="0"/>
                </a:moveTo>
                <a:lnTo>
                  <a:pt x="0" y="0"/>
                </a:lnTo>
                <a:lnTo>
                  <a:pt x="0" y="3977458"/>
                </a:lnTo>
                <a:lnTo>
                  <a:pt x="5688855" y="3977458"/>
                </a:lnTo>
                <a:lnTo>
                  <a:pt x="5688855" y="0"/>
                </a:lnTo>
                <a:close/>
              </a:path>
            </a:pathLst>
          </a:custGeom>
          <a:blipFill>
            <a:blip r:embed="rId2">
              <a:alphaModFix amt="49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9934" y="0"/>
            <a:ext cx="4532959" cy="4245872"/>
          </a:xfrm>
          <a:custGeom>
            <a:avLst/>
            <a:gdLst/>
            <a:ahLst/>
            <a:cxnLst/>
            <a:rect r="r" b="b" t="t" l="l"/>
            <a:pathLst>
              <a:path h="4245872" w="4532959">
                <a:moveTo>
                  <a:pt x="0" y="0"/>
                </a:moveTo>
                <a:lnTo>
                  <a:pt x="4532959" y="0"/>
                </a:lnTo>
                <a:lnTo>
                  <a:pt x="4532959" y="4245872"/>
                </a:lnTo>
                <a:lnTo>
                  <a:pt x="0" y="42458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39934" y="-776"/>
            <a:ext cx="1885101" cy="1619230"/>
          </a:xfrm>
          <a:custGeom>
            <a:avLst/>
            <a:gdLst/>
            <a:ahLst/>
            <a:cxnLst/>
            <a:rect r="r" b="b" t="t" l="l"/>
            <a:pathLst>
              <a:path h="1619230" w="1885101">
                <a:moveTo>
                  <a:pt x="0" y="0"/>
                </a:moveTo>
                <a:lnTo>
                  <a:pt x="1885101" y="0"/>
                </a:lnTo>
                <a:lnTo>
                  <a:pt x="1885101" y="1619229"/>
                </a:lnTo>
                <a:lnTo>
                  <a:pt x="0" y="1619229"/>
                </a:lnTo>
                <a:lnTo>
                  <a:pt x="0" y="0"/>
                </a:lnTo>
                <a:close/>
              </a:path>
            </a:pathLst>
          </a:custGeom>
          <a:blipFill>
            <a:blip r:embed="rId6"/>
            <a:stretch>
              <a:fillRect l="0" t="-29178" r="0" b="-5350"/>
            </a:stretch>
          </a:blipFill>
        </p:spPr>
      </p:sp>
      <p:grpSp>
        <p:nvGrpSpPr>
          <p:cNvPr name="Group 5" id="5"/>
          <p:cNvGrpSpPr/>
          <p:nvPr/>
        </p:nvGrpSpPr>
        <p:grpSpPr>
          <a:xfrm rot="0">
            <a:off x="-80169" y="9509796"/>
            <a:ext cx="18368169" cy="777204"/>
            <a:chOff x="0" y="0"/>
            <a:chExt cx="4837707" cy="204696"/>
          </a:xfrm>
        </p:grpSpPr>
        <p:sp>
          <p:nvSpPr>
            <p:cNvPr name="Freeform 6" id="6"/>
            <p:cNvSpPr/>
            <p:nvPr/>
          </p:nvSpPr>
          <p:spPr>
            <a:xfrm flipH="false" flipV="false" rot="0">
              <a:off x="0" y="0"/>
              <a:ext cx="4837707" cy="204696"/>
            </a:xfrm>
            <a:custGeom>
              <a:avLst/>
              <a:gdLst/>
              <a:ahLst/>
              <a:cxnLst/>
              <a:rect r="r" b="b" t="t" l="l"/>
              <a:pathLst>
                <a:path h="204696" w="4837707">
                  <a:moveTo>
                    <a:pt x="0" y="0"/>
                  </a:moveTo>
                  <a:lnTo>
                    <a:pt x="4837707" y="0"/>
                  </a:lnTo>
                  <a:lnTo>
                    <a:pt x="4837707" y="204696"/>
                  </a:lnTo>
                  <a:lnTo>
                    <a:pt x="0" y="204696"/>
                  </a:lnTo>
                  <a:close/>
                </a:path>
              </a:pathLst>
            </a:custGeom>
            <a:solidFill>
              <a:srgbClr val="00004D"/>
            </a:solidFill>
          </p:spPr>
        </p:sp>
        <p:sp>
          <p:nvSpPr>
            <p:cNvPr name="TextBox 7" id="7"/>
            <p:cNvSpPr txBox="true"/>
            <p:nvPr/>
          </p:nvSpPr>
          <p:spPr>
            <a:xfrm>
              <a:off x="0" y="-38100"/>
              <a:ext cx="4837707" cy="242796"/>
            </a:xfrm>
            <a:prstGeom prst="rect">
              <a:avLst/>
            </a:prstGeom>
          </p:spPr>
          <p:txBody>
            <a:bodyPr anchor="ctr" rtlCol="false" tIns="50800" lIns="50800" bIns="50800" rIns="50800"/>
            <a:lstStyle/>
            <a:p>
              <a:pPr algn="ctr">
                <a:lnSpc>
                  <a:spcPts val="3194"/>
                </a:lnSpc>
              </a:pPr>
            </a:p>
          </p:txBody>
        </p:sp>
      </p:grpSp>
      <p:grpSp>
        <p:nvGrpSpPr>
          <p:cNvPr name="Group 8" id="8"/>
          <p:cNvGrpSpPr/>
          <p:nvPr/>
        </p:nvGrpSpPr>
        <p:grpSpPr>
          <a:xfrm rot="0">
            <a:off x="1546572" y="417216"/>
            <a:ext cx="3881590" cy="783245"/>
            <a:chOff x="0" y="0"/>
            <a:chExt cx="5175454" cy="1044327"/>
          </a:xfrm>
        </p:grpSpPr>
        <p:sp>
          <p:nvSpPr>
            <p:cNvPr name="TextBox 9" id="9"/>
            <p:cNvSpPr txBox="true"/>
            <p:nvPr/>
          </p:nvSpPr>
          <p:spPr>
            <a:xfrm rot="0">
              <a:off x="0" y="474538"/>
              <a:ext cx="4606605" cy="569788"/>
            </a:xfrm>
            <a:prstGeom prst="rect">
              <a:avLst/>
            </a:prstGeom>
          </p:spPr>
          <p:txBody>
            <a:bodyPr anchor="t" rtlCol="false" tIns="0" lIns="0" bIns="0" rIns="0">
              <a:spAutoFit/>
            </a:bodyPr>
            <a:lstStyle/>
            <a:p>
              <a:pPr algn="l">
                <a:lnSpc>
                  <a:spcPts val="3614"/>
                </a:lnSpc>
              </a:pPr>
              <a:r>
                <a:rPr lang="en-US" sz="2581" b="true">
                  <a:solidFill>
                    <a:srgbClr val="000000"/>
                  </a:solidFill>
                  <a:latin typeface="Inter Bold"/>
                  <a:ea typeface="Inter Bold"/>
                  <a:cs typeface="Inter Bold"/>
                  <a:sym typeface="Inter Bold"/>
                </a:rPr>
                <a:t>Sppg Sindang Asih</a:t>
              </a:r>
            </a:p>
          </p:txBody>
        </p:sp>
        <p:sp>
          <p:nvSpPr>
            <p:cNvPr name="TextBox 10" id="10"/>
            <p:cNvSpPr txBox="true"/>
            <p:nvPr/>
          </p:nvSpPr>
          <p:spPr>
            <a:xfrm rot="0">
              <a:off x="0" y="-47625"/>
              <a:ext cx="5175454" cy="569788"/>
            </a:xfrm>
            <a:prstGeom prst="rect">
              <a:avLst/>
            </a:prstGeom>
          </p:spPr>
          <p:txBody>
            <a:bodyPr anchor="t" rtlCol="false" tIns="0" lIns="0" bIns="0" rIns="0">
              <a:spAutoFit/>
            </a:bodyPr>
            <a:lstStyle/>
            <a:p>
              <a:pPr algn="l">
                <a:lnSpc>
                  <a:spcPts val="3614"/>
                </a:lnSpc>
              </a:pPr>
              <a:r>
                <a:rPr lang="en-US" sz="2581" b="true">
                  <a:solidFill>
                    <a:srgbClr val="000000"/>
                  </a:solidFill>
                  <a:latin typeface="Inter Bold"/>
                  <a:ea typeface="Inter Bold"/>
                  <a:cs typeface="Inter Bold"/>
                  <a:sym typeface="Inter Bold"/>
                </a:rPr>
                <a:t>Badan Gizi Nasional</a:t>
              </a:r>
            </a:p>
          </p:txBody>
        </p:sp>
      </p:grpSp>
      <p:sp>
        <p:nvSpPr>
          <p:cNvPr name="TextBox 11" id="11"/>
          <p:cNvSpPr txBox="true"/>
          <p:nvPr/>
        </p:nvSpPr>
        <p:spPr>
          <a:xfrm rot="0">
            <a:off x="5851378" y="1057275"/>
            <a:ext cx="6088679" cy="905764"/>
          </a:xfrm>
          <a:prstGeom prst="rect">
            <a:avLst/>
          </a:prstGeom>
        </p:spPr>
        <p:txBody>
          <a:bodyPr anchor="t" rtlCol="false" tIns="0" lIns="0" bIns="0" rIns="0">
            <a:spAutoFit/>
          </a:bodyPr>
          <a:lstStyle/>
          <a:p>
            <a:pPr algn="ctr">
              <a:lnSpc>
                <a:spcPts val="7061"/>
              </a:lnSpc>
            </a:pPr>
            <a:r>
              <a:rPr lang="en-US" sz="6140">
                <a:solidFill>
                  <a:srgbClr val="000000"/>
                </a:solidFill>
                <a:latin typeface="Rye"/>
                <a:ea typeface="Rye"/>
                <a:cs typeface="Rye"/>
                <a:sym typeface="Rye"/>
              </a:rPr>
              <a:t>KETUA SPPG</a:t>
            </a:r>
          </a:p>
        </p:txBody>
      </p:sp>
      <p:sp>
        <p:nvSpPr>
          <p:cNvPr name="TextBox 12" id="12"/>
          <p:cNvSpPr txBox="true"/>
          <p:nvPr/>
        </p:nvSpPr>
        <p:spPr>
          <a:xfrm rot="0">
            <a:off x="1278451" y="1991614"/>
            <a:ext cx="16542833" cy="6321309"/>
          </a:xfrm>
          <a:prstGeom prst="rect">
            <a:avLst/>
          </a:prstGeom>
        </p:spPr>
        <p:txBody>
          <a:bodyPr anchor="t" rtlCol="false" tIns="0" lIns="0" bIns="0" rIns="0">
            <a:spAutoFit/>
          </a:bodyPr>
          <a:lstStyle/>
          <a:p>
            <a:pPr algn="l">
              <a:lnSpc>
                <a:spcPts val="3837"/>
              </a:lnSpc>
            </a:pPr>
          </a:p>
          <a:p>
            <a:pPr algn="l">
              <a:lnSpc>
                <a:spcPts val="3837"/>
              </a:lnSpc>
            </a:pPr>
            <a:r>
              <a:rPr lang="en-US" sz="3426" b="true">
                <a:solidFill>
                  <a:srgbClr val="000000"/>
                </a:solidFill>
                <a:latin typeface="Inter Bold"/>
                <a:ea typeface="Inter Bold"/>
                <a:cs typeface="Inter Bold"/>
                <a:sym typeface="Inter Bold"/>
              </a:rPr>
              <a:t>e) Bertanggung jawab menciptakan suasana kerja yang kondusif dan menjaga</a:t>
            </a:r>
          </a:p>
          <a:p>
            <a:pPr algn="l">
              <a:lnSpc>
                <a:spcPts val="3837"/>
              </a:lnSpc>
            </a:pPr>
            <a:r>
              <a:rPr lang="en-US" sz="3426" b="true">
                <a:solidFill>
                  <a:srgbClr val="000000"/>
                </a:solidFill>
                <a:latin typeface="Inter Bold"/>
                <a:ea typeface="Inter Bold"/>
                <a:cs typeface="Inter Bold"/>
                <a:sym typeface="Inter Bold"/>
              </a:rPr>
              <a:t>hubungan baik denganPerwakilan Yayasan. </a:t>
            </a:r>
          </a:p>
          <a:p>
            <a:pPr algn="l">
              <a:lnSpc>
                <a:spcPts val="3837"/>
              </a:lnSpc>
            </a:pPr>
            <a:r>
              <a:rPr lang="en-US" sz="3426" b="true">
                <a:solidFill>
                  <a:srgbClr val="000000"/>
                </a:solidFill>
                <a:latin typeface="Inter Bold"/>
                <a:ea typeface="Inter Bold"/>
                <a:cs typeface="Inter Bold"/>
                <a:sym typeface="Inter Bold"/>
              </a:rPr>
              <a:t>f) Berkoordinasi dengan pemangku kepentingan di sekitar SPPG (seperti aparat </a:t>
            </a:r>
          </a:p>
          <a:p>
            <a:pPr algn="l">
              <a:lnSpc>
                <a:spcPts val="3837"/>
              </a:lnSpc>
            </a:pPr>
            <a:r>
              <a:rPr lang="en-US" sz="3426" b="true">
                <a:solidFill>
                  <a:srgbClr val="000000"/>
                </a:solidFill>
                <a:latin typeface="Inter Bold"/>
                <a:ea typeface="Inter Bold"/>
                <a:cs typeface="Inter Bold"/>
                <a:sym typeface="Inter Bold"/>
              </a:rPr>
              <a:t>kecamatan, perangkat desa/kelurahan, tokoh masyarakat) agar memberikan </a:t>
            </a:r>
          </a:p>
          <a:p>
            <a:pPr algn="l">
              <a:lnSpc>
                <a:spcPts val="3837"/>
              </a:lnSpc>
            </a:pPr>
            <a:r>
              <a:rPr lang="en-US" sz="3426" b="true">
                <a:solidFill>
                  <a:srgbClr val="000000"/>
                </a:solidFill>
                <a:latin typeface="Inter Bold"/>
                <a:ea typeface="Inter Bold"/>
                <a:cs typeface="Inter Bold"/>
                <a:sym typeface="Inter Bold"/>
              </a:rPr>
              <a:t>dukungan kepada pelaksanaan program MBG. </a:t>
            </a:r>
          </a:p>
          <a:p>
            <a:pPr algn="l">
              <a:lnSpc>
                <a:spcPts val="3837"/>
              </a:lnSpc>
            </a:pPr>
            <a:r>
              <a:rPr lang="en-US" sz="3426" b="true">
                <a:solidFill>
                  <a:srgbClr val="000000"/>
                </a:solidFill>
                <a:latin typeface="Inter Bold"/>
                <a:ea typeface="Inter Bold"/>
                <a:cs typeface="Inter Bold"/>
                <a:sym typeface="Inter Bold"/>
              </a:rPr>
              <a:t>g) Tim berkinerja dengan baik, mengembangkan kapasitas tim, menetapkan jadwal kerja, dan mengelola konflik. </a:t>
            </a:r>
          </a:p>
          <a:p>
            <a:pPr algn="l">
              <a:lnSpc>
                <a:spcPts val="3837"/>
              </a:lnSpc>
            </a:pPr>
            <a:r>
              <a:rPr lang="en-US" sz="3426" b="true">
                <a:solidFill>
                  <a:srgbClr val="000000"/>
                </a:solidFill>
                <a:latin typeface="Inter Bold"/>
                <a:ea typeface="Inter Bold"/>
                <a:cs typeface="Inter Bold"/>
                <a:sym typeface="Inter Bold"/>
              </a:rPr>
              <a:t>h) Memastikan kecukupan stok bahan baku dan peralatan yang dibutuhkan. </a:t>
            </a:r>
          </a:p>
          <a:p>
            <a:pPr algn="l">
              <a:lnSpc>
                <a:spcPts val="3837"/>
              </a:lnSpc>
            </a:pPr>
            <a:r>
              <a:rPr lang="en-US" sz="3426" b="true">
                <a:solidFill>
                  <a:srgbClr val="000000"/>
                </a:solidFill>
                <a:latin typeface="Inter Bold"/>
                <a:ea typeface="Inter Bold"/>
                <a:cs typeface="Inter Bold"/>
                <a:sym typeface="Inter Bold"/>
              </a:rPr>
              <a:t>i) Mengendalikan anggaran SPPG mulai dari biaya operasional, bahan baku, dan insentif.</a:t>
            </a:r>
          </a:p>
          <a:p>
            <a:pPr algn="l">
              <a:lnSpc>
                <a:spcPts val="3837"/>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true" flipV="false" rot="0">
            <a:off x="0" y="6623175"/>
            <a:ext cx="5688855" cy="3977458"/>
          </a:xfrm>
          <a:custGeom>
            <a:avLst/>
            <a:gdLst/>
            <a:ahLst/>
            <a:cxnLst/>
            <a:rect r="r" b="b" t="t" l="l"/>
            <a:pathLst>
              <a:path h="3977458" w="5688855">
                <a:moveTo>
                  <a:pt x="5688855" y="0"/>
                </a:moveTo>
                <a:lnTo>
                  <a:pt x="0" y="0"/>
                </a:lnTo>
                <a:lnTo>
                  <a:pt x="0" y="3977458"/>
                </a:lnTo>
                <a:lnTo>
                  <a:pt x="5688855" y="3977458"/>
                </a:lnTo>
                <a:lnTo>
                  <a:pt x="5688855" y="0"/>
                </a:lnTo>
                <a:close/>
              </a:path>
            </a:pathLst>
          </a:custGeom>
          <a:blipFill>
            <a:blip r:embed="rId2">
              <a:alphaModFix amt="49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9934" y="0"/>
            <a:ext cx="4532959" cy="4245872"/>
          </a:xfrm>
          <a:custGeom>
            <a:avLst/>
            <a:gdLst/>
            <a:ahLst/>
            <a:cxnLst/>
            <a:rect r="r" b="b" t="t" l="l"/>
            <a:pathLst>
              <a:path h="4245872" w="4532959">
                <a:moveTo>
                  <a:pt x="0" y="0"/>
                </a:moveTo>
                <a:lnTo>
                  <a:pt x="4532959" y="0"/>
                </a:lnTo>
                <a:lnTo>
                  <a:pt x="4532959" y="4245872"/>
                </a:lnTo>
                <a:lnTo>
                  <a:pt x="0" y="42458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39934" y="-776"/>
            <a:ext cx="1885101" cy="1619230"/>
          </a:xfrm>
          <a:custGeom>
            <a:avLst/>
            <a:gdLst/>
            <a:ahLst/>
            <a:cxnLst/>
            <a:rect r="r" b="b" t="t" l="l"/>
            <a:pathLst>
              <a:path h="1619230" w="1885101">
                <a:moveTo>
                  <a:pt x="0" y="0"/>
                </a:moveTo>
                <a:lnTo>
                  <a:pt x="1885101" y="0"/>
                </a:lnTo>
                <a:lnTo>
                  <a:pt x="1885101" y="1619229"/>
                </a:lnTo>
                <a:lnTo>
                  <a:pt x="0" y="1619229"/>
                </a:lnTo>
                <a:lnTo>
                  <a:pt x="0" y="0"/>
                </a:lnTo>
                <a:close/>
              </a:path>
            </a:pathLst>
          </a:custGeom>
          <a:blipFill>
            <a:blip r:embed="rId6"/>
            <a:stretch>
              <a:fillRect l="0" t="-29178" r="0" b="-5350"/>
            </a:stretch>
          </a:blipFill>
        </p:spPr>
      </p:sp>
      <p:grpSp>
        <p:nvGrpSpPr>
          <p:cNvPr name="Group 5" id="5"/>
          <p:cNvGrpSpPr/>
          <p:nvPr/>
        </p:nvGrpSpPr>
        <p:grpSpPr>
          <a:xfrm rot="0">
            <a:off x="-80169" y="9509796"/>
            <a:ext cx="18368169" cy="777204"/>
            <a:chOff x="0" y="0"/>
            <a:chExt cx="4837707" cy="204696"/>
          </a:xfrm>
        </p:grpSpPr>
        <p:sp>
          <p:nvSpPr>
            <p:cNvPr name="Freeform 6" id="6"/>
            <p:cNvSpPr/>
            <p:nvPr/>
          </p:nvSpPr>
          <p:spPr>
            <a:xfrm flipH="false" flipV="false" rot="0">
              <a:off x="0" y="0"/>
              <a:ext cx="4837707" cy="204696"/>
            </a:xfrm>
            <a:custGeom>
              <a:avLst/>
              <a:gdLst/>
              <a:ahLst/>
              <a:cxnLst/>
              <a:rect r="r" b="b" t="t" l="l"/>
              <a:pathLst>
                <a:path h="204696" w="4837707">
                  <a:moveTo>
                    <a:pt x="0" y="0"/>
                  </a:moveTo>
                  <a:lnTo>
                    <a:pt x="4837707" y="0"/>
                  </a:lnTo>
                  <a:lnTo>
                    <a:pt x="4837707" y="204696"/>
                  </a:lnTo>
                  <a:lnTo>
                    <a:pt x="0" y="204696"/>
                  </a:lnTo>
                  <a:close/>
                </a:path>
              </a:pathLst>
            </a:custGeom>
            <a:solidFill>
              <a:srgbClr val="00004D"/>
            </a:solidFill>
          </p:spPr>
        </p:sp>
        <p:sp>
          <p:nvSpPr>
            <p:cNvPr name="TextBox 7" id="7"/>
            <p:cNvSpPr txBox="true"/>
            <p:nvPr/>
          </p:nvSpPr>
          <p:spPr>
            <a:xfrm>
              <a:off x="0" y="-38100"/>
              <a:ext cx="4837707" cy="242796"/>
            </a:xfrm>
            <a:prstGeom prst="rect">
              <a:avLst/>
            </a:prstGeom>
          </p:spPr>
          <p:txBody>
            <a:bodyPr anchor="ctr" rtlCol="false" tIns="50800" lIns="50800" bIns="50800" rIns="50800"/>
            <a:lstStyle/>
            <a:p>
              <a:pPr algn="ctr">
                <a:lnSpc>
                  <a:spcPts val="3194"/>
                </a:lnSpc>
              </a:pPr>
            </a:p>
          </p:txBody>
        </p:sp>
      </p:grpSp>
      <p:grpSp>
        <p:nvGrpSpPr>
          <p:cNvPr name="Group 8" id="8"/>
          <p:cNvGrpSpPr/>
          <p:nvPr/>
        </p:nvGrpSpPr>
        <p:grpSpPr>
          <a:xfrm rot="0">
            <a:off x="1546572" y="417216"/>
            <a:ext cx="3881590" cy="783245"/>
            <a:chOff x="0" y="0"/>
            <a:chExt cx="5175454" cy="1044327"/>
          </a:xfrm>
        </p:grpSpPr>
        <p:sp>
          <p:nvSpPr>
            <p:cNvPr name="TextBox 9" id="9"/>
            <p:cNvSpPr txBox="true"/>
            <p:nvPr/>
          </p:nvSpPr>
          <p:spPr>
            <a:xfrm rot="0">
              <a:off x="0" y="474538"/>
              <a:ext cx="4606605" cy="569788"/>
            </a:xfrm>
            <a:prstGeom prst="rect">
              <a:avLst/>
            </a:prstGeom>
          </p:spPr>
          <p:txBody>
            <a:bodyPr anchor="t" rtlCol="false" tIns="0" lIns="0" bIns="0" rIns="0">
              <a:spAutoFit/>
            </a:bodyPr>
            <a:lstStyle/>
            <a:p>
              <a:pPr algn="l">
                <a:lnSpc>
                  <a:spcPts val="3614"/>
                </a:lnSpc>
              </a:pPr>
              <a:r>
                <a:rPr lang="en-US" sz="2581" b="true">
                  <a:solidFill>
                    <a:srgbClr val="000000"/>
                  </a:solidFill>
                  <a:latin typeface="Inter Bold"/>
                  <a:ea typeface="Inter Bold"/>
                  <a:cs typeface="Inter Bold"/>
                  <a:sym typeface="Inter Bold"/>
                </a:rPr>
                <a:t>Sppg Sindang Asih</a:t>
              </a:r>
            </a:p>
          </p:txBody>
        </p:sp>
        <p:sp>
          <p:nvSpPr>
            <p:cNvPr name="TextBox 10" id="10"/>
            <p:cNvSpPr txBox="true"/>
            <p:nvPr/>
          </p:nvSpPr>
          <p:spPr>
            <a:xfrm rot="0">
              <a:off x="0" y="-47625"/>
              <a:ext cx="5175454" cy="569788"/>
            </a:xfrm>
            <a:prstGeom prst="rect">
              <a:avLst/>
            </a:prstGeom>
          </p:spPr>
          <p:txBody>
            <a:bodyPr anchor="t" rtlCol="false" tIns="0" lIns="0" bIns="0" rIns="0">
              <a:spAutoFit/>
            </a:bodyPr>
            <a:lstStyle/>
            <a:p>
              <a:pPr algn="l">
                <a:lnSpc>
                  <a:spcPts val="3614"/>
                </a:lnSpc>
              </a:pPr>
              <a:r>
                <a:rPr lang="en-US" sz="2581" b="true">
                  <a:solidFill>
                    <a:srgbClr val="000000"/>
                  </a:solidFill>
                  <a:latin typeface="Inter Bold"/>
                  <a:ea typeface="Inter Bold"/>
                  <a:cs typeface="Inter Bold"/>
                  <a:sym typeface="Inter Bold"/>
                </a:rPr>
                <a:t>Badan Gizi Nasional</a:t>
              </a:r>
            </a:p>
          </p:txBody>
        </p:sp>
      </p:grpSp>
      <p:sp>
        <p:nvSpPr>
          <p:cNvPr name="TextBox 11" id="11"/>
          <p:cNvSpPr txBox="true"/>
          <p:nvPr/>
        </p:nvSpPr>
        <p:spPr>
          <a:xfrm rot="0">
            <a:off x="5851378" y="1057275"/>
            <a:ext cx="6088679" cy="905764"/>
          </a:xfrm>
          <a:prstGeom prst="rect">
            <a:avLst/>
          </a:prstGeom>
        </p:spPr>
        <p:txBody>
          <a:bodyPr anchor="t" rtlCol="false" tIns="0" lIns="0" bIns="0" rIns="0">
            <a:spAutoFit/>
          </a:bodyPr>
          <a:lstStyle/>
          <a:p>
            <a:pPr algn="ctr">
              <a:lnSpc>
                <a:spcPts val="7061"/>
              </a:lnSpc>
            </a:pPr>
            <a:r>
              <a:rPr lang="en-US" sz="6140">
                <a:solidFill>
                  <a:srgbClr val="000000"/>
                </a:solidFill>
                <a:latin typeface="Rye"/>
                <a:ea typeface="Rye"/>
                <a:cs typeface="Rye"/>
                <a:sym typeface="Rye"/>
              </a:rPr>
              <a:t>AHLI GIZI</a:t>
            </a:r>
          </a:p>
        </p:txBody>
      </p:sp>
      <p:sp>
        <p:nvSpPr>
          <p:cNvPr name="TextBox 12" id="12"/>
          <p:cNvSpPr txBox="true"/>
          <p:nvPr/>
        </p:nvSpPr>
        <p:spPr>
          <a:xfrm rot="0">
            <a:off x="514350" y="1991614"/>
            <a:ext cx="17559001" cy="8027387"/>
          </a:xfrm>
          <a:prstGeom prst="rect">
            <a:avLst/>
          </a:prstGeom>
        </p:spPr>
        <p:txBody>
          <a:bodyPr anchor="t" rtlCol="false" tIns="0" lIns="0" bIns="0" rIns="0">
            <a:spAutoFit/>
          </a:bodyPr>
          <a:lstStyle/>
          <a:p>
            <a:pPr algn="l">
              <a:lnSpc>
                <a:spcPts val="3725"/>
              </a:lnSpc>
            </a:pPr>
            <a:r>
              <a:rPr lang="en-US" sz="3326" b="true">
                <a:solidFill>
                  <a:srgbClr val="000000"/>
                </a:solidFill>
                <a:latin typeface="Inter Bold"/>
                <a:ea typeface="Inter Bold"/>
                <a:cs typeface="Inter Bold"/>
                <a:sym typeface="Inter Bold"/>
              </a:rPr>
              <a:t>Berikut tugas dan tanggung jawab Pengawas gizi </a:t>
            </a:r>
            <a:r>
              <a:rPr lang="en-US" sz="3326" b="true">
                <a:solidFill>
                  <a:srgbClr val="000000"/>
                </a:solidFill>
                <a:latin typeface="Inter Bold"/>
                <a:ea typeface="Inter Bold"/>
                <a:cs typeface="Inter Bold"/>
                <a:sym typeface="Inter Bold"/>
              </a:rPr>
              <a:t>Di Satuan Pelayanan program pemenuhan Gizi yaitu : </a:t>
            </a:r>
          </a:p>
          <a:p>
            <a:pPr algn="l">
              <a:lnSpc>
                <a:spcPts val="3725"/>
              </a:lnSpc>
            </a:pPr>
            <a:r>
              <a:rPr lang="en-US" sz="3326" b="true">
                <a:solidFill>
                  <a:srgbClr val="000000"/>
                </a:solidFill>
                <a:latin typeface="Inter Bold"/>
                <a:ea typeface="Inter Bold"/>
                <a:cs typeface="Inter Bold"/>
                <a:sym typeface="Inter Bold"/>
              </a:rPr>
              <a:t>a) Penyusunan Menu: merancang menu yang bergizi seimbang, termasuk kalori, protein, lemak, karbohidrat serta zat gizi lainnya sesuai dengan peraturan yang berlaku. </a:t>
            </a:r>
          </a:p>
          <a:p>
            <a:pPr algn="l">
              <a:lnSpc>
                <a:spcPts val="3725"/>
              </a:lnSpc>
            </a:pPr>
            <a:r>
              <a:rPr lang="en-US" sz="3326" b="true">
                <a:solidFill>
                  <a:srgbClr val="000000"/>
                </a:solidFill>
                <a:latin typeface="Inter Bold"/>
                <a:ea typeface="Inter Bold"/>
                <a:cs typeface="Inter Bold"/>
                <a:sym typeface="Inter Bold"/>
              </a:rPr>
              <a:t>b) Konsultasi Gizi: Menyediakan konsultasi gizi secara langsung dan tidak dipungut biaya kepada masyarakat yang memerlukan informasi tentang gizi </a:t>
            </a:r>
          </a:p>
          <a:p>
            <a:pPr algn="l">
              <a:lnSpc>
                <a:spcPts val="3725"/>
              </a:lnSpc>
            </a:pPr>
            <a:r>
              <a:rPr lang="en-US" sz="3326" b="true">
                <a:solidFill>
                  <a:srgbClr val="000000"/>
                </a:solidFill>
                <a:latin typeface="Inter Bold"/>
                <a:ea typeface="Inter Bold"/>
                <a:cs typeface="Inter Bold"/>
                <a:sym typeface="Inter Bold"/>
              </a:rPr>
              <a:t>c) Pelatihan dan Edukasi: Memberikan peningkatan pengetahuan dan keterampilan tentang makanan bergizi kepada relawan SPPG. </a:t>
            </a:r>
          </a:p>
          <a:p>
            <a:pPr algn="l">
              <a:lnSpc>
                <a:spcPts val="3725"/>
              </a:lnSpc>
            </a:pPr>
            <a:r>
              <a:rPr lang="en-US" sz="3326" b="true">
                <a:solidFill>
                  <a:srgbClr val="000000"/>
                </a:solidFill>
                <a:latin typeface="Inter Bold"/>
                <a:ea typeface="Inter Bold"/>
                <a:cs typeface="Inter Bold"/>
                <a:sym typeface="Inter Bold"/>
              </a:rPr>
              <a:t>d) Pengawasan Kualitas: Memastikan bahwa makanan sesuai dengan standar gizi yang telah ditetapkan oleh BGN. </a:t>
            </a:r>
          </a:p>
          <a:p>
            <a:pPr algn="l">
              <a:lnSpc>
                <a:spcPts val="3725"/>
              </a:lnSpc>
            </a:pPr>
            <a:r>
              <a:rPr lang="en-US" sz="3326" b="true">
                <a:solidFill>
                  <a:srgbClr val="000000"/>
                </a:solidFill>
                <a:latin typeface="Inter Bold"/>
                <a:ea typeface="Inter Bold"/>
                <a:cs typeface="Inter Bold"/>
                <a:sym typeface="Inter Bold"/>
              </a:rPr>
              <a:t>e) Monitoring dan evaluasi terhadap kinerja dari karyawan khususnya bagian persiapan, pengolahan, dan pemorsian. </a:t>
            </a:r>
          </a:p>
          <a:p>
            <a:pPr algn="l">
              <a:lnSpc>
                <a:spcPts val="3725"/>
              </a:lnSpc>
            </a:pPr>
            <a:r>
              <a:rPr lang="en-US" sz="3326" b="true">
                <a:solidFill>
                  <a:srgbClr val="000000"/>
                </a:solidFill>
                <a:latin typeface="Inter Bold"/>
                <a:ea typeface="Inter Bold"/>
                <a:cs typeface="Inter Bold"/>
                <a:sym typeface="Inter Bold"/>
              </a:rPr>
              <a:t>f) Pengendalian mutu (quality control) terhadap makananyang diproduksi setiap harinya. </a:t>
            </a:r>
          </a:p>
          <a:p>
            <a:pPr algn="l">
              <a:lnSpc>
                <a:spcPts val="3725"/>
              </a:lnSpc>
            </a:pPr>
          </a:p>
          <a:p>
            <a:pPr algn="l">
              <a:lnSpc>
                <a:spcPts val="3725"/>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true" flipV="false" rot="0">
            <a:off x="0" y="6623175"/>
            <a:ext cx="5688855" cy="3977458"/>
          </a:xfrm>
          <a:custGeom>
            <a:avLst/>
            <a:gdLst/>
            <a:ahLst/>
            <a:cxnLst/>
            <a:rect r="r" b="b" t="t" l="l"/>
            <a:pathLst>
              <a:path h="3977458" w="5688855">
                <a:moveTo>
                  <a:pt x="5688855" y="0"/>
                </a:moveTo>
                <a:lnTo>
                  <a:pt x="0" y="0"/>
                </a:lnTo>
                <a:lnTo>
                  <a:pt x="0" y="3977458"/>
                </a:lnTo>
                <a:lnTo>
                  <a:pt x="5688855" y="3977458"/>
                </a:lnTo>
                <a:lnTo>
                  <a:pt x="5688855" y="0"/>
                </a:lnTo>
                <a:close/>
              </a:path>
            </a:pathLst>
          </a:custGeom>
          <a:blipFill>
            <a:blip r:embed="rId2">
              <a:alphaModFix amt="49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9934" y="0"/>
            <a:ext cx="4532959" cy="4245872"/>
          </a:xfrm>
          <a:custGeom>
            <a:avLst/>
            <a:gdLst/>
            <a:ahLst/>
            <a:cxnLst/>
            <a:rect r="r" b="b" t="t" l="l"/>
            <a:pathLst>
              <a:path h="4245872" w="4532959">
                <a:moveTo>
                  <a:pt x="0" y="0"/>
                </a:moveTo>
                <a:lnTo>
                  <a:pt x="4532959" y="0"/>
                </a:lnTo>
                <a:lnTo>
                  <a:pt x="4532959" y="4245872"/>
                </a:lnTo>
                <a:lnTo>
                  <a:pt x="0" y="42458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39934" y="-776"/>
            <a:ext cx="1885101" cy="1619230"/>
          </a:xfrm>
          <a:custGeom>
            <a:avLst/>
            <a:gdLst/>
            <a:ahLst/>
            <a:cxnLst/>
            <a:rect r="r" b="b" t="t" l="l"/>
            <a:pathLst>
              <a:path h="1619230" w="1885101">
                <a:moveTo>
                  <a:pt x="0" y="0"/>
                </a:moveTo>
                <a:lnTo>
                  <a:pt x="1885101" y="0"/>
                </a:lnTo>
                <a:lnTo>
                  <a:pt x="1885101" y="1619229"/>
                </a:lnTo>
                <a:lnTo>
                  <a:pt x="0" y="1619229"/>
                </a:lnTo>
                <a:lnTo>
                  <a:pt x="0" y="0"/>
                </a:lnTo>
                <a:close/>
              </a:path>
            </a:pathLst>
          </a:custGeom>
          <a:blipFill>
            <a:blip r:embed="rId6"/>
            <a:stretch>
              <a:fillRect l="0" t="-29178" r="0" b="-5350"/>
            </a:stretch>
          </a:blipFill>
        </p:spPr>
      </p:sp>
      <p:grpSp>
        <p:nvGrpSpPr>
          <p:cNvPr name="Group 5" id="5"/>
          <p:cNvGrpSpPr/>
          <p:nvPr/>
        </p:nvGrpSpPr>
        <p:grpSpPr>
          <a:xfrm rot="0">
            <a:off x="-80169" y="9509796"/>
            <a:ext cx="18368169" cy="777204"/>
            <a:chOff x="0" y="0"/>
            <a:chExt cx="4837707" cy="204696"/>
          </a:xfrm>
        </p:grpSpPr>
        <p:sp>
          <p:nvSpPr>
            <p:cNvPr name="Freeform 6" id="6"/>
            <p:cNvSpPr/>
            <p:nvPr/>
          </p:nvSpPr>
          <p:spPr>
            <a:xfrm flipH="false" flipV="false" rot="0">
              <a:off x="0" y="0"/>
              <a:ext cx="4837707" cy="204696"/>
            </a:xfrm>
            <a:custGeom>
              <a:avLst/>
              <a:gdLst/>
              <a:ahLst/>
              <a:cxnLst/>
              <a:rect r="r" b="b" t="t" l="l"/>
              <a:pathLst>
                <a:path h="204696" w="4837707">
                  <a:moveTo>
                    <a:pt x="0" y="0"/>
                  </a:moveTo>
                  <a:lnTo>
                    <a:pt x="4837707" y="0"/>
                  </a:lnTo>
                  <a:lnTo>
                    <a:pt x="4837707" y="204696"/>
                  </a:lnTo>
                  <a:lnTo>
                    <a:pt x="0" y="204696"/>
                  </a:lnTo>
                  <a:close/>
                </a:path>
              </a:pathLst>
            </a:custGeom>
            <a:solidFill>
              <a:srgbClr val="00004D"/>
            </a:solidFill>
          </p:spPr>
        </p:sp>
        <p:sp>
          <p:nvSpPr>
            <p:cNvPr name="TextBox 7" id="7"/>
            <p:cNvSpPr txBox="true"/>
            <p:nvPr/>
          </p:nvSpPr>
          <p:spPr>
            <a:xfrm>
              <a:off x="0" y="-38100"/>
              <a:ext cx="4837707" cy="242796"/>
            </a:xfrm>
            <a:prstGeom prst="rect">
              <a:avLst/>
            </a:prstGeom>
          </p:spPr>
          <p:txBody>
            <a:bodyPr anchor="ctr" rtlCol="false" tIns="50800" lIns="50800" bIns="50800" rIns="50800"/>
            <a:lstStyle/>
            <a:p>
              <a:pPr algn="ctr">
                <a:lnSpc>
                  <a:spcPts val="3194"/>
                </a:lnSpc>
              </a:pPr>
            </a:p>
          </p:txBody>
        </p:sp>
      </p:grpSp>
      <p:grpSp>
        <p:nvGrpSpPr>
          <p:cNvPr name="Group 8" id="8"/>
          <p:cNvGrpSpPr/>
          <p:nvPr/>
        </p:nvGrpSpPr>
        <p:grpSpPr>
          <a:xfrm rot="0">
            <a:off x="1546572" y="417216"/>
            <a:ext cx="3881590" cy="783245"/>
            <a:chOff x="0" y="0"/>
            <a:chExt cx="5175454" cy="1044327"/>
          </a:xfrm>
        </p:grpSpPr>
        <p:sp>
          <p:nvSpPr>
            <p:cNvPr name="TextBox 9" id="9"/>
            <p:cNvSpPr txBox="true"/>
            <p:nvPr/>
          </p:nvSpPr>
          <p:spPr>
            <a:xfrm rot="0">
              <a:off x="0" y="474538"/>
              <a:ext cx="4606605" cy="569788"/>
            </a:xfrm>
            <a:prstGeom prst="rect">
              <a:avLst/>
            </a:prstGeom>
          </p:spPr>
          <p:txBody>
            <a:bodyPr anchor="t" rtlCol="false" tIns="0" lIns="0" bIns="0" rIns="0">
              <a:spAutoFit/>
            </a:bodyPr>
            <a:lstStyle/>
            <a:p>
              <a:pPr algn="l">
                <a:lnSpc>
                  <a:spcPts val="3614"/>
                </a:lnSpc>
              </a:pPr>
              <a:r>
                <a:rPr lang="en-US" sz="2581" b="true">
                  <a:solidFill>
                    <a:srgbClr val="000000"/>
                  </a:solidFill>
                  <a:latin typeface="Inter Bold"/>
                  <a:ea typeface="Inter Bold"/>
                  <a:cs typeface="Inter Bold"/>
                  <a:sym typeface="Inter Bold"/>
                </a:rPr>
                <a:t>Sppg Sindang Asih</a:t>
              </a:r>
            </a:p>
          </p:txBody>
        </p:sp>
        <p:sp>
          <p:nvSpPr>
            <p:cNvPr name="TextBox 10" id="10"/>
            <p:cNvSpPr txBox="true"/>
            <p:nvPr/>
          </p:nvSpPr>
          <p:spPr>
            <a:xfrm rot="0">
              <a:off x="0" y="-47625"/>
              <a:ext cx="5175454" cy="569788"/>
            </a:xfrm>
            <a:prstGeom prst="rect">
              <a:avLst/>
            </a:prstGeom>
          </p:spPr>
          <p:txBody>
            <a:bodyPr anchor="t" rtlCol="false" tIns="0" lIns="0" bIns="0" rIns="0">
              <a:spAutoFit/>
            </a:bodyPr>
            <a:lstStyle/>
            <a:p>
              <a:pPr algn="l">
                <a:lnSpc>
                  <a:spcPts val="3614"/>
                </a:lnSpc>
              </a:pPr>
              <a:r>
                <a:rPr lang="en-US" sz="2581" b="true">
                  <a:solidFill>
                    <a:srgbClr val="000000"/>
                  </a:solidFill>
                  <a:latin typeface="Inter Bold"/>
                  <a:ea typeface="Inter Bold"/>
                  <a:cs typeface="Inter Bold"/>
                  <a:sym typeface="Inter Bold"/>
                </a:rPr>
                <a:t>Badan Gizi Nasional</a:t>
              </a:r>
            </a:p>
          </p:txBody>
        </p:sp>
      </p:grpSp>
      <p:sp>
        <p:nvSpPr>
          <p:cNvPr name="TextBox 11" id="11"/>
          <p:cNvSpPr txBox="true"/>
          <p:nvPr/>
        </p:nvSpPr>
        <p:spPr>
          <a:xfrm rot="0">
            <a:off x="5851378" y="1057275"/>
            <a:ext cx="6088679" cy="905764"/>
          </a:xfrm>
          <a:prstGeom prst="rect">
            <a:avLst/>
          </a:prstGeom>
        </p:spPr>
        <p:txBody>
          <a:bodyPr anchor="t" rtlCol="false" tIns="0" lIns="0" bIns="0" rIns="0">
            <a:spAutoFit/>
          </a:bodyPr>
          <a:lstStyle/>
          <a:p>
            <a:pPr algn="ctr">
              <a:lnSpc>
                <a:spcPts val="7061"/>
              </a:lnSpc>
            </a:pPr>
            <a:r>
              <a:rPr lang="en-US" sz="6140">
                <a:solidFill>
                  <a:srgbClr val="000000"/>
                </a:solidFill>
                <a:latin typeface="Rye"/>
                <a:ea typeface="Rye"/>
                <a:cs typeface="Rye"/>
                <a:sym typeface="Rye"/>
              </a:rPr>
              <a:t>AHLI GIZI</a:t>
            </a:r>
          </a:p>
        </p:txBody>
      </p:sp>
      <p:sp>
        <p:nvSpPr>
          <p:cNvPr name="TextBox 12" id="12"/>
          <p:cNvSpPr txBox="true"/>
          <p:nvPr/>
        </p:nvSpPr>
        <p:spPr>
          <a:xfrm rot="0">
            <a:off x="514350" y="2323825"/>
            <a:ext cx="17773650" cy="5667926"/>
          </a:xfrm>
          <a:prstGeom prst="rect">
            <a:avLst/>
          </a:prstGeom>
        </p:spPr>
        <p:txBody>
          <a:bodyPr anchor="t" rtlCol="false" tIns="0" lIns="0" bIns="0" rIns="0">
            <a:spAutoFit/>
          </a:bodyPr>
          <a:lstStyle/>
          <a:p>
            <a:pPr algn="l">
              <a:lnSpc>
                <a:spcPts val="3725"/>
              </a:lnSpc>
            </a:pPr>
            <a:r>
              <a:rPr lang="en-US" sz="3326" b="true">
                <a:solidFill>
                  <a:srgbClr val="000000"/>
                </a:solidFill>
                <a:latin typeface="Inter Bold"/>
                <a:ea typeface="Inter Bold"/>
                <a:cs typeface="Inter Bold"/>
                <a:sym typeface="Inter Bold"/>
              </a:rPr>
              <a:t>g) Bertanggung jawab dalam pengawasan dan pencatatan contoh makanan (food safety) setiap harinya. </a:t>
            </a:r>
          </a:p>
          <a:p>
            <a:pPr algn="l">
              <a:lnSpc>
                <a:spcPts val="3725"/>
              </a:lnSpc>
            </a:pPr>
            <a:r>
              <a:rPr lang="en-US" sz="3326" b="true">
                <a:solidFill>
                  <a:srgbClr val="000000"/>
                </a:solidFill>
                <a:latin typeface="Inter Bold"/>
                <a:ea typeface="Inter Bold"/>
                <a:cs typeface="Inter Bold"/>
                <a:sym typeface="Inter Bold"/>
              </a:rPr>
              <a:t>h) Edukasi gizi dan keamanan pangan kepada penerima manfaat. Melaksanakan edukasi gizi kepada penerima manfaat, termasuk anak sekolah dan kelompok 3B, </a:t>
            </a:r>
          </a:p>
          <a:p>
            <a:pPr algn="l">
              <a:lnSpc>
                <a:spcPts val="3725"/>
              </a:lnSpc>
            </a:pPr>
            <a:r>
              <a:rPr lang="en-US" sz="3326" b="true">
                <a:solidFill>
                  <a:srgbClr val="000000"/>
                </a:solidFill>
                <a:latin typeface="Inter Bold"/>
                <a:ea typeface="Inter Bold"/>
                <a:cs typeface="Inter Bold"/>
                <a:sym typeface="Inter Bold"/>
              </a:rPr>
              <a:t>mengenai gizi seimbang, keamanan pangan, perilaku hidup bersih dan sehat, melalui kerja sama dengan pihak satuan pendidikan, Puskesmas setempat, Unit Kesehatan Sekolah, serta kader Posyandu dan kader lainnya. </a:t>
            </a:r>
          </a:p>
          <a:p>
            <a:pPr algn="l">
              <a:lnSpc>
                <a:spcPts val="3725"/>
              </a:lnSpc>
            </a:pPr>
            <a:r>
              <a:rPr lang="en-US" sz="3326" b="true">
                <a:solidFill>
                  <a:srgbClr val="000000"/>
                </a:solidFill>
                <a:latin typeface="Inter Bold"/>
                <a:ea typeface="Inter Bold"/>
                <a:cs typeface="Inter Bold"/>
                <a:sym typeface="Inter Bold"/>
              </a:rPr>
              <a:t>i) Pemantauan Status Gizi. Berpartisipasi dalam kegiatan monitoring dan evaluasi perkembangan status gizi penerima manfaat dengan berkoordinasi dan bekerjasama dengan UKS satuan pendidikan, Puskesmas, dan atau kader kesehatan setempat, sesuai dengan ketentuan yang berlaku.</a:t>
            </a:r>
          </a:p>
          <a:p>
            <a:pPr algn="l">
              <a:lnSpc>
                <a:spcPts val="3725"/>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true" flipV="false" rot="0">
            <a:off x="-1099261" y="7521067"/>
            <a:ext cx="5688855" cy="3977458"/>
          </a:xfrm>
          <a:custGeom>
            <a:avLst/>
            <a:gdLst/>
            <a:ahLst/>
            <a:cxnLst/>
            <a:rect r="r" b="b" t="t" l="l"/>
            <a:pathLst>
              <a:path h="3977458" w="5688855">
                <a:moveTo>
                  <a:pt x="5688855" y="0"/>
                </a:moveTo>
                <a:lnTo>
                  <a:pt x="0" y="0"/>
                </a:lnTo>
                <a:lnTo>
                  <a:pt x="0" y="3977458"/>
                </a:lnTo>
                <a:lnTo>
                  <a:pt x="5688855" y="3977458"/>
                </a:lnTo>
                <a:lnTo>
                  <a:pt x="5688855" y="0"/>
                </a:lnTo>
                <a:close/>
              </a:path>
            </a:pathLst>
          </a:custGeom>
          <a:blipFill>
            <a:blip r:embed="rId2">
              <a:alphaModFix amt="49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9934" y="0"/>
            <a:ext cx="4532959" cy="4245872"/>
          </a:xfrm>
          <a:custGeom>
            <a:avLst/>
            <a:gdLst/>
            <a:ahLst/>
            <a:cxnLst/>
            <a:rect r="r" b="b" t="t" l="l"/>
            <a:pathLst>
              <a:path h="4245872" w="4532959">
                <a:moveTo>
                  <a:pt x="0" y="0"/>
                </a:moveTo>
                <a:lnTo>
                  <a:pt x="4532959" y="0"/>
                </a:lnTo>
                <a:lnTo>
                  <a:pt x="4532959" y="4245872"/>
                </a:lnTo>
                <a:lnTo>
                  <a:pt x="0" y="42458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39934" y="-776"/>
            <a:ext cx="1885101" cy="1619230"/>
          </a:xfrm>
          <a:custGeom>
            <a:avLst/>
            <a:gdLst/>
            <a:ahLst/>
            <a:cxnLst/>
            <a:rect r="r" b="b" t="t" l="l"/>
            <a:pathLst>
              <a:path h="1619230" w="1885101">
                <a:moveTo>
                  <a:pt x="0" y="0"/>
                </a:moveTo>
                <a:lnTo>
                  <a:pt x="1885101" y="0"/>
                </a:lnTo>
                <a:lnTo>
                  <a:pt x="1885101" y="1619229"/>
                </a:lnTo>
                <a:lnTo>
                  <a:pt x="0" y="1619229"/>
                </a:lnTo>
                <a:lnTo>
                  <a:pt x="0" y="0"/>
                </a:lnTo>
                <a:close/>
              </a:path>
            </a:pathLst>
          </a:custGeom>
          <a:blipFill>
            <a:blip r:embed="rId6"/>
            <a:stretch>
              <a:fillRect l="0" t="-29178" r="0" b="-5350"/>
            </a:stretch>
          </a:blipFill>
        </p:spPr>
      </p:sp>
      <p:grpSp>
        <p:nvGrpSpPr>
          <p:cNvPr name="Group 5" id="5"/>
          <p:cNvGrpSpPr/>
          <p:nvPr/>
        </p:nvGrpSpPr>
        <p:grpSpPr>
          <a:xfrm rot="0">
            <a:off x="-80169" y="9509796"/>
            <a:ext cx="18368169" cy="777204"/>
            <a:chOff x="0" y="0"/>
            <a:chExt cx="4837707" cy="204696"/>
          </a:xfrm>
        </p:grpSpPr>
        <p:sp>
          <p:nvSpPr>
            <p:cNvPr name="Freeform 6" id="6"/>
            <p:cNvSpPr/>
            <p:nvPr/>
          </p:nvSpPr>
          <p:spPr>
            <a:xfrm flipH="false" flipV="false" rot="0">
              <a:off x="0" y="0"/>
              <a:ext cx="4837707" cy="204696"/>
            </a:xfrm>
            <a:custGeom>
              <a:avLst/>
              <a:gdLst/>
              <a:ahLst/>
              <a:cxnLst/>
              <a:rect r="r" b="b" t="t" l="l"/>
              <a:pathLst>
                <a:path h="204696" w="4837707">
                  <a:moveTo>
                    <a:pt x="0" y="0"/>
                  </a:moveTo>
                  <a:lnTo>
                    <a:pt x="4837707" y="0"/>
                  </a:lnTo>
                  <a:lnTo>
                    <a:pt x="4837707" y="204696"/>
                  </a:lnTo>
                  <a:lnTo>
                    <a:pt x="0" y="204696"/>
                  </a:lnTo>
                  <a:close/>
                </a:path>
              </a:pathLst>
            </a:custGeom>
            <a:solidFill>
              <a:srgbClr val="00004D"/>
            </a:solidFill>
          </p:spPr>
        </p:sp>
        <p:sp>
          <p:nvSpPr>
            <p:cNvPr name="TextBox 7" id="7"/>
            <p:cNvSpPr txBox="true"/>
            <p:nvPr/>
          </p:nvSpPr>
          <p:spPr>
            <a:xfrm>
              <a:off x="0" y="-38100"/>
              <a:ext cx="4837707" cy="242796"/>
            </a:xfrm>
            <a:prstGeom prst="rect">
              <a:avLst/>
            </a:prstGeom>
          </p:spPr>
          <p:txBody>
            <a:bodyPr anchor="ctr" rtlCol="false" tIns="50800" lIns="50800" bIns="50800" rIns="50800"/>
            <a:lstStyle/>
            <a:p>
              <a:pPr algn="ctr">
                <a:lnSpc>
                  <a:spcPts val="3194"/>
                </a:lnSpc>
              </a:pPr>
            </a:p>
          </p:txBody>
        </p:sp>
      </p:grpSp>
      <p:grpSp>
        <p:nvGrpSpPr>
          <p:cNvPr name="Group 8" id="8"/>
          <p:cNvGrpSpPr/>
          <p:nvPr/>
        </p:nvGrpSpPr>
        <p:grpSpPr>
          <a:xfrm rot="0">
            <a:off x="1546572" y="417216"/>
            <a:ext cx="3881590" cy="783245"/>
            <a:chOff x="0" y="0"/>
            <a:chExt cx="5175454" cy="1044327"/>
          </a:xfrm>
        </p:grpSpPr>
        <p:sp>
          <p:nvSpPr>
            <p:cNvPr name="TextBox 9" id="9"/>
            <p:cNvSpPr txBox="true"/>
            <p:nvPr/>
          </p:nvSpPr>
          <p:spPr>
            <a:xfrm rot="0">
              <a:off x="0" y="474538"/>
              <a:ext cx="4606605" cy="569788"/>
            </a:xfrm>
            <a:prstGeom prst="rect">
              <a:avLst/>
            </a:prstGeom>
          </p:spPr>
          <p:txBody>
            <a:bodyPr anchor="t" rtlCol="false" tIns="0" lIns="0" bIns="0" rIns="0">
              <a:spAutoFit/>
            </a:bodyPr>
            <a:lstStyle/>
            <a:p>
              <a:pPr algn="l">
                <a:lnSpc>
                  <a:spcPts val="3614"/>
                </a:lnSpc>
              </a:pPr>
              <a:r>
                <a:rPr lang="en-US" sz="2581" b="true">
                  <a:solidFill>
                    <a:srgbClr val="000000"/>
                  </a:solidFill>
                  <a:latin typeface="Inter Bold"/>
                  <a:ea typeface="Inter Bold"/>
                  <a:cs typeface="Inter Bold"/>
                  <a:sym typeface="Inter Bold"/>
                </a:rPr>
                <a:t>Sppg Sindang Asih</a:t>
              </a:r>
            </a:p>
          </p:txBody>
        </p:sp>
        <p:sp>
          <p:nvSpPr>
            <p:cNvPr name="TextBox 10" id="10"/>
            <p:cNvSpPr txBox="true"/>
            <p:nvPr/>
          </p:nvSpPr>
          <p:spPr>
            <a:xfrm rot="0">
              <a:off x="0" y="-47625"/>
              <a:ext cx="5175454" cy="569788"/>
            </a:xfrm>
            <a:prstGeom prst="rect">
              <a:avLst/>
            </a:prstGeom>
          </p:spPr>
          <p:txBody>
            <a:bodyPr anchor="t" rtlCol="false" tIns="0" lIns="0" bIns="0" rIns="0">
              <a:spAutoFit/>
            </a:bodyPr>
            <a:lstStyle/>
            <a:p>
              <a:pPr algn="l">
                <a:lnSpc>
                  <a:spcPts val="3614"/>
                </a:lnSpc>
              </a:pPr>
              <a:r>
                <a:rPr lang="en-US" sz="2581" b="true">
                  <a:solidFill>
                    <a:srgbClr val="000000"/>
                  </a:solidFill>
                  <a:latin typeface="Inter Bold"/>
                  <a:ea typeface="Inter Bold"/>
                  <a:cs typeface="Inter Bold"/>
                  <a:sym typeface="Inter Bold"/>
                </a:rPr>
                <a:t>Badan Gizi Nasional</a:t>
              </a:r>
            </a:p>
          </p:txBody>
        </p:sp>
      </p:grpSp>
      <p:sp>
        <p:nvSpPr>
          <p:cNvPr name="TextBox 11" id="11"/>
          <p:cNvSpPr txBox="true"/>
          <p:nvPr/>
        </p:nvSpPr>
        <p:spPr>
          <a:xfrm rot="0">
            <a:off x="5838706" y="702529"/>
            <a:ext cx="5514252" cy="915924"/>
          </a:xfrm>
          <a:prstGeom prst="rect">
            <a:avLst/>
          </a:prstGeom>
        </p:spPr>
        <p:txBody>
          <a:bodyPr anchor="t" rtlCol="false" tIns="0" lIns="0" bIns="0" rIns="0">
            <a:spAutoFit/>
          </a:bodyPr>
          <a:lstStyle/>
          <a:p>
            <a:pPr algn="ctr">
              <a:lnSpc>
                <a:spcPts val="7176"/>
              </a:lnSpc>
            </a:pPr>
            <a:r>
              <a:rPr lang="en-US" sz="6240">
                <a:solidFill>
                  <a:srgbClr val="000000"/>
                </a:solidFill>
                <a:latin typeface="Rye"/>
                <a:ea typeface="Rye"/>
                <a:cs typeface="Rye"/>
                <a:sym typeface="Rye"/>
              </a:rPr>
              <a:t>AKUNTAN</a:t>
            </a:r>
          </a:p>
        </p:txBody>
      </p:sp>
      <p:sp>
        <p:nvSpPr>
          <p:cNvPr name="TextBox 12" id="12"/>
          <p:cNvSpPr txBox="true"/>
          <p:nvPr/>
        </p:nvSpPr>
        <p:spPr>
          <a:xfrm rot="0">
            <a:off x="802616" y="1637503"/>
            <a:ext cx="17296504" cy="8071406"/>
          </a:xfrm>
          <a:prstGeom prst="rect">
            <a:avLst/>
          </a:prstGeom>
        </p:spPr>
        <p:txBody>
          <a:bodyPr anchor="t" rtlCol="false" tIns="0" lIns="0" bIns="0" rIns="0">
            <a:spAutoFit/>
          </a:bodyPr>
          <a:lstStyle/>
          <a:p>
            <a:pPr algn="just">
              <a:lnSpc>
                <a:spcPts val="3561"/>
              </a:lnSpc>
            </a:pPr>
            <a:r>
              <a:rPr lang="en-US" sz="3179" b="true">
                <a:solidFill>
                  <a:srgbClr val="000000"/>
                </a:solidFill>
                <a:latin typeface="Inter Bold"/>
                <a:ea typeface="Inter Bold"/>
                <a:cs typeface="Inter Bold"/>
                <a:sym typeface="Inter Bold"/>
              </a:rPr>
              <a:t>Berikut tugas dan tanggung jawab Pengawas Keuangan </a:t>
            </a:r>
            <a:r>
              <a:rPr lang="en-US" sz="3179" b="true">
                <a:solidFill>
                  <a:srgbClr val="000000"/>
                </a:solidFill>
                <a:latin typeface="Inter Bold"/>
                <a:ea typeface="Inter Bold"/>
                <a:cs typeface="Inter Bold"/>
                <a:sym typeface="Inter Bold"/>
              </a:rPr>
              <a:t>Di Satuan Pelayanan </a:t>
            </a:r>
          </a:p>
          <a:p>
            <a:pPr algn="just">
              <a:lnSpc>
                <a:spcPts val="3561"/>
              </a:lnSpc>
            </a:pPr>
            <a:r>
              <a:rPr lang="en-US" sz="3179" b="true">
                <a:solidFill>
                  <a:srgbClr val="000000"/>
                </a:solidFill>
                <a:latin typeface="Inter Bold"/>
                <a:ea typeface="Inter Bold"/>
                <a:cs typeface="Inter Bold"/>
                <a:sym typeface="Inter Bold"/>
              </a:rPr>
              <a:t>program pemenuhan Gizi yaitu : </a:t>
            </a:r>
          </a:p>
          <a:p>
            <a:pPr algn="just">
              <a:lnSpc>
                <a:spcPts val="3561"/>
              </a:lnSpc>
            </a:pPr>
            <a:r>
              <a:rPr lang="en-US" sz="3179" b="true">
                <a:solidFill>
                  <a:srgbClr val="000000"/>
                </a:solidFill>
                <a:latin typeface="Inter Bold"/>
                <a:ea typeface="Inter Bold"/>
                <a:cs typeface="Inter Bold"/>
                <a:sym typeface="Inter Bold"/>
              </a:rPr>
              <a:t>a) Berkoordinasi dengan kepala SPPG membuat rencana anggaran belanja setiap hari. </a:t>
            </a:r>
          </a:p>
          <a:p>
            <a:pPr algn="just">
              <a:lnSpc>
                <a:spcPts val="3561"/>
              </a:lnSpc>
            </a:pPr>
            <a:r>
              <a:rPr lang="en-US" sz="3179" b="true">
                <a:solidFill>
                  <a:srgbClr val="000000"/>
                </a:solidFill>
                <a:latin typeface="Inter Bold"/>
                <a:ea typeface="Inter Bold"/>
                <a:cs typeface="Inter Bold"/>
                <a:sym typeface="Inter Bold"/>
              </a:rPr>
              <a:t>b) Manajemen Logistik: Bersama dengan jurutama masak memastikan </a:t>
            </a:r>
          </a:p>
          <a:p>
            <a:pPr algn="just">
              <a:lnSpc>
                <a:spcPts val="3561"/>
              </a:lnSpc>
            </a:pPr>
            <a:r>
              <a:rPr lang="en-US" sz="3179" b="true">
                <a:solidFill>
                  <a:srgbClr val="000000"/>
                </a:solidFill>
                <a:latin typeface="Inter Bold"/>
                <a:ea typeface="Inter Bold"/>
                <a:cs typeface="Inter Bold"/>
                <a:sym typeface="Inter Bold"/>
              </a:rPr>
              <a:t>pemesanan, pembelian,pemanfaatan, dan ketersediaan bahan baku. </a:t>
            </a:r>
          </a:p>
          <a:p>
            <a:pPr algn="just">
              <a:lnSpc>
                <a:spcPts val="3561"/>
              </a:lnSpc>
            </a:pPr>
            <a:r>
              <a:rPr lang="en-US" sz="3179" b="true">
                <a:solidFill>
                  <a:srgbClr val="000000"/>
                </a:solidFill>
                <a:latin typeface="Inter Bold"/>
                <a:ea typeface="Inter Bold"/>
                <a:cs typeface="Inter Bold"/>
                <a:sym typeface="Inter Bold"/>
              </a:rPr>
              <a:t>c) Bertanggung jawab dalam pengelolaan keuangan mulai dari perencanaan, pengelolaan keuangan, termasuk kas kecil (petty cash) pencatatan, penyimpanan bukti pengeluaran, dan rekonsiliasi serta pelaporan. Pelaporan keuangan disampaikan rutin harian, per 2 mingguan, dan bulanan, serta penyetoran kelebihan uang kas kecil ke VA Yayasan. </a:t>
            </a:r>
          </a:p>
          <a:p>
            <a:pPr algn="just">
              <a:lnSpc>
                <a:spcPts val="3561"/>
              </a:lnSpc>
            </a:pPr>
            <a:r>
              <a:rPr lang="en-US" sz="3179" b="true">
                <a:solidFill>
                  <a:srgbClr val="000000"/>
                </a:solidFill>
                <a:latin typeface="Inter Bold"/>
                <a:ea typeface="Inter Bold"/>
                <a:cs typeface="Inter Bold"/>
                <a:sym typeface="Inter Bold"/>
              </a:rPr>
              <a:t>d) Mengatur jadwal kerja giliran (shift) relawan dalam operasional SPPG. </a:t>
            </a:r>
          </a:p>
          <a:p>
            <a:pPr algn="just">
              <a:lnSpc>
                <a:spcPts val="3561"/>
              </a:lnSpc>
            </a:pPr>
            <a:r>
              <a:rPr lang="en-US" sz="3179" b="true">
                <a:solidFill>
                  <a:srgbClr val="000000"/>
                </a:solidFill>
                <a:latin typeface="Inter Bold"/>
                <a:ea typeface="Inter Bold"/>
                <a:cs typeface="Inter Bold"/>
                <a:sym typeface="Inter Bold"/>
              </a:rPr>
              <a:t>e) Membantu memastikan pencatatan kegiatan harian di SPPG yang dilakukan oleh </a:t>
            </a:r>
          </a:p>
          <a:p>
            <a:pPr algn="just">
              <a:lnSpc>
                <a:spcPts val="3561"/>
              </a:lnSpc>
            </a:pPr>
            <a:r>
              <a:rPr lang="en-US" sz="3179" b="true">
                <a:solidFill>
                  <a:srgbClr val="000000"/>
                </a:solidFill>
                <a:latin typeface="Inter Bold"/>
                <a:ea typeface="Inter Bold"/>
                <a:cs typeface="Inter Bold"/>
                <a:sym typeface="Inter Bold"/>
              </a:rPr>
              <a:t>masing-masing petugas. </a:t>
            </a:r>
          </a:p>
          <a:p>
            <a:pPr algn="just">
              <a:lnSpc>
                <a:spcPts val="3561"/>
              </a:lnSpc>
            </a:pPr>
            <a:r>
              <a:rPr lang="en-US" sz="3179" b="true">
                <a:solidFill>
                  <a:srgbClr val="000000"/>
                </a:solidFill>
                <a:latin typeface="Inter Bold"/>
                <a:ea typeface="Inter Bold"/>
                <a:cs typeface="Inter Bold"/>
                <a:sym typeface="Inter Bold"/>
              </a:rPr>
              <a:t>f) Bertanggung jawab terhadap pencatatan sampah (food waste) setiap harinya, berupa sampah organik dan anorganik baik dari sisa bahan baku maupun sisa makanan yang dicatat oleh petugas pencuci alat </a:t>
            </a:r>
          </a:p>
          <a:p>
            <a:pPr algn="just">
              <a:lnSpc>
                <a:spcPts val="3561"/>
              </a:lnSpc>
            </a:pPr>
            <a:r>
              <a:rPr lang="en-US" sz="3179" b="true">
                <a:solidFill>
                  <a:srgbClr val="000000"/>
                </a:solidFill>
                <a:latin typeface="Inter Bold"/>
                <a:ea typeface="Inter Bold"/>
                <a:cs typeface="Inter Bold"/>
                <a:sym typeface="Inter Bold"/>
              </a:rPr>
              <a:t>makan dan petugas persiapan bahan makanan.</a:t>
            </a:r>
          </a:p>
          <a:p>
            <a:pPr algn="just">
              <a:lnSpc>
                <a:spcPts val="3561"/>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true" flipV="false" rot="0">
            <a:off x="0" y="6318746"/>
            <a:ext cx="6124273" cy="4281887"/>
          </a:xfrm>
          <a:custGeom>
            <a:avLst/>
            <a:gdLst/>
            <a:ahLst/>
            <a:cxnLst/>
            <a:rect r="r" b="b" t="t" l="l"/>
            <a:pathLst>
              <a:path h="4281887" w="6124273">
                <a:moveTo>
                  <a:pt x="6124273" y="0"/>
                </a:moveTo>
                <a:lnTo>
                  <a:pt x="0" y="0"/>
                </a:lnTo>
                <a:lnTo>
                  <a:pt x="0" y="4281887"/>
                </a:lnTo>
                <a:lnTo>
                  <a:pt x="6124273" y="4281887"/>
                </a:lnTo>
                <a:lnTo>
                  <a:pt x="6124273"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9934" y="0"/>
            <a:ext cx="4532959" cy="4245872"/>
          </a:xfrm>
          <a:custGeom>
            <a:avLst/>
            <a:gdLst/>
            <a:ahLst/>
            <a:cxnLst/>
            <a:rect r="r" b="b" t="t" l="l"/>
            <a:pathLst>
              <a:path h="4245872" w="4532959">
                <a:moveTo>
                  <a:pt x="0" y="0"/>
                </a:moveTo>
                <a:lnTo>
                  <a:pt x="4532959" y="0"/>
                </a:lnTo>
                <a:lnTo>
                  <a:pt x="4532959" y="4245872"/>
                </a:lnTo>
                <a:lnTo>
                  <a:pt x="0" y="42458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77836" y="0"/>
            <a:ext cx="1885101" cy="1619230"/>
          </a:xfrm>
          <a:custGeom>
            <a:avLst/>
            <a:gdLst/>
            <a:ahLst/>
            <a:cxnLst/>
            <a:rect r="r" b="b" t="t" l="l"/>
            <a:pathLst>
              <a:path h="1619230" w="1885101">
                <a:moveTo>
                  <a:pt x="0" y="0"/>
                </a:moveTo>
                <a:lnTo>
                  <a:pt x="1885101" y="0"/>
                </a:lnTo>
                <a:lnTo>
                  <a:pt x="1885101" y="1619230"/>
                </a:lnTo>
                <a:lnTo>
                  <a:pt x="0" y="1619230"/>
                </a:lnTo>
                <a:lnTo>
                  <a:pt x="0" y="0"/>
                </a:lnTo>
                <a:close/>
              </a:path>
            </a:pathLst>
          </a:custGeom>
          <a:blipFill>
            <a:blip r:embed="rId6"/>
            <a:stretch>
              <a:fillRect l="0" t="-29178" r="0" b="-5350"/>
            </a:stretch>
          </a:blipFill>
        </p:spPr>
      </p:sp>
      <p:grpSp>
        <p:nvGrpSpPr>
          <p:cNvPr name="Group 5" id="5"/>
          <p:cNvGrpSpPr/>
          <p:nvPr/>
        </p:nvGrpSpPr>
        <p:grpSpPr>
          <a:xfrm rot="0">
            <a:off x="-80169" y="9509796"/>
            <a:ext cx="18368169" cy="777204"/>
            <a:chOff x="0" y="0"/>
            <a:chExt cx="4837707" cy="204696"/>
          </a:xfrm>
        </p:grpSpPr>
        <p:sp>
          <p:nvSpPr>
            <p:cNvPr name="Freeform 6" id="6"/>
            <p:cNvSpPr/>
            <p:nvPr/>
          </p:nvSpPr>
          <p:spPr>
            <a:xfrm flipH="false" flipV="false" rot="0">
              <a:off x="0" y="0"/>
              <a:ext cx="4837707" cy="204696"/>
            </a:xfrm>
            <a:custGeom>
              <a:avLst/>
              <a:gdLst/>
              <a:ahLst/>
              <a:cxnLst/>
              <a:rect r="r" b="b" t="t" l="l"/>
              <a:pathLst>
                <a:path h="204696" w="4837707">
                  <a:moveTo>
                    <a:pt x="0" y="0"/>
                  </a:moveTo>
                  <a:lnTo>
                    <a:pt x="4837707" y="0"/>
                  </a:lnTo>
                  <a:lnTo>
                    <a:pt x="4837707" y="204696"/>
                  </a:lnTo>
                  <a:lnTo>
                    <a:pt x="0" y="204696"/>
                  </a:lnTo>
                  <a:close/>
                </a:path>
              </a:pathLst>
            </a:custGeom>
            <a:solidFill>
              <a:srgbClr val="00004D"/>
            </a:solidFill>
          </p:spPr>
        </p:sp>
        <p:sp>
          <p:nvSpPr>
            <p:cNvPr name="TextBox 7" id="7"/>
            <p:cNvSpPr txBox="true"/>
            <p:nvPr/>
          </p:nvSpPr>
          <p:spPr>
            <a:xfrm>
              <a:off x="0" y="-38100"/>
              <a:ext cx="4837707" cy="242796"/>
            </a:xfrm>
            <a:prstGeom prst="rect">
              <a:avLst/>
            </a:prstGeom>
          </p:spPr>
          <p:txBody>
            <a:bodyPr anchor="ctr" rtlCol="false" tIns="50800" lIns="50800" bIns="50800" rIns="50800"/>
            <a:lstStyle/>
            <a:p>
              <a:pPr algn="ctr">
                <a:lnSpc>
                  <a:spcPts val="3194"/>
                </a:lnSpc>
              </a:pPr>
            </a:p>
          </p:txBody>
        </p:sp>
      </p:grpSp>
      <p:grpSp>
        <p:nvGrpSpPr>
          <p:cNvPr name="Group 8" id="8"/>
          <p:cNvGrpSpPr/>
          <p:nvPr/>
        </p:nvGrpSpPr>
        <p:grpSpPr>
          <a:xfrm rot="0">
            <a:off x="1628965" y="417992"/>
            <a:ext cx="3881590" cy="783245"/>
            <a:chOff x="0" y="0"/>
            <a:chExt cx="5175454" cy="1044327"/>
          </a:xfrm>
        </p:grpSpPr>
        <p:sp>
          <p:nvSpPr>
            <p:cNvPr name="TextBox 9" id="9"/>
            <p:cNvSpPr txBox="true"/>
            <p:nvPr/>
          </p:nvSpPr>
          <p:spPr>
            <a:xfrm rot="0">
              <a:off x="0" y="474538"/>
              <a:ext cx="4606605" cy="569788"/>
            </a:xfrm>
            <a:prstGeom prst="rect">
              <a:avLst/>
            </a:prstGeom>
          </p:spPr>
          <p:txBody>
            <a:bodyPr anchor="t" rtlCol="false" tIns="0" lIns="0" bIns="0" rIns="0">
              <a:spAutoFit/>
            </a:bodyPr>
            <a:lstStyle/>
            <a:p>
              <a:pPr algn="l">
                <a:lnSpc>
                  <a:spcPts val="3614"/>
                </a:lnSpc>
              </a:pPr>
              <a:r>
                <a:rPr lang="en-US" sz="2581" b="true">
                  <a:solidFill>
                    <a:srgbClr val="000000"/>
                  </a:solidFill>
                  <a:latin typeface="Inter Bold"/>
                  <a:ea typeface="Inter Bold"/>
                  <a:cs typeface="Inter Bold"/>
                  <a:sym typeface="Inter Bold"/>
                </a:rPr>
                <a:t>Sppg Sindang Asih</a:t>
              </a:r>
            </a:p>
          </p:txBody>
        </p:sp>
        <p:sp>
          <p:nvSpPr>
            <p:cNvPr name="TextBox 10" id="10"/>
            <p:cNvSpPr txBox="true"/>
            <p:nvPr/>
          </p:nvSpPr>
          <p:spPr>
            <a:xfrm rot="0">
              <a:off x="0" y="-47625"/>
              <a:ext cx="5175454" cy="569788"/>
            </a:xfrm>
            <a:prstGeom prst="rect">
              <a:avLst/>
            </a:prstGeom>
          </p:spPr>
          <p:txBody>
            <a:bodyPr anchor="t" rtlCol="false" tIns="0" lIns="0" bIns="0" rIns="0">
              <a:spAutoFit/>
            </a:bodyPr>
            <a:lstStyle/>
            <a:p>
              <a:pPr algn="l">
                <a:lnSpc>
                  <a:spcPts val="3614"/>
                </a:lnSpc>
              </a:pPr>
              <a:r>
                <a:rPr lang="en-US" sz="2581" b="true">
                  <a:solidFill>
                    <a:srgbClr val="000000"/>
                  </a:solidFill>
                  <a:latin typeface="Inter Bold"/>
                  <a:ea typeface="Inter Bold"/>
                  <a:cs typeface="Inter Bold"/>
                  <a:sym typeface="Inter Bold"/>
                </a:rPr>
                <a:t>Badan Gizi Nasional</a:t>
              </a:r>
            </a:p>
          </p:txBody>
        </p:sp>
      </p:grpSp>
      <p:sp>
        <p:nvSpPr>
          <p:cNvPr name="TextBox 11" id="11"/>
          <p:cNvSpPr txBox="true"/>
          <p:nvPr/>
        </p:nvSpPr>
        <p:spPr>
          <a:xfrm rot="0">
            <a:off x="6124273" y="838190"/>
            <a:ext cx="6088679" cy="905764"/>
          </a:xfrm>
          <a:prstGeom prst="rect">
            <a:avLst/>
          </a:prstGeom>
        </p:spPr>
        <p:txBody>
          <a:bodyPr anchor="t" rtlCol="false" tIns="0" lIns="0" bIns="0" rIns="0">
            <a:spAutoFit/>
          </a:bodyPr>
          <a:lstStyle/>
          <a:p>
            <a:pPr algn="ctr">
              <a:lnSpc>
                <a:spcPts val="7061"/>
              </a:lnSpc>
            </a:pPr>
            <a:r>
              <a:rPr lang="en-US" sz="6140">
                <a:solidFill>
                  <a:srgbClr val="000000"/>
                </a:solidFill>
                <a:latin typeface="Rye"/>
                <a:ea typeface="Rye"/>
                <a:cs typeface="Rye"/>
                <a:sym typeface="Rye"/>
              </a:rPr>
              <a:t>JURU MASAK</a:t>
            </a:r>
          </a:p>
        </p:txBody>
      </p:sp>
      <p:sp>
        <p:nvSpPr>
          <p:cNvPr name="TextBox 12" id="12"/>
          <p:cNvSpPr txBox="true"/>
          <p:nvPr/>
        </p:nvSpPr>
        <p:spPr>
          <a:xfrm rot="0">
            <a:off x="670211" y="1782306"/>
            <a:ext cx="16996803" cy="7727490"/>
          </a:xfrm>
          <a:prstGeom prst="rect">
            <a:avLst/>
          </a:prstGeom>
        </p:spPr>
        <p:txBody>
          <a:bodyPr anchor="t" rtlCol="false" tIns="0" lIns="0" bIns="0" rIns="0">
            <a:spAutoFit/>
          </a:bodyPr>
          <a:lstStyle/>
          <a:p>
            <a:pPr algn="just">
              <a:lnSpc>
                <a:spcPts val="3449"/>
              </a:lnSpc>
            </a:pPr>
            <a:r>
              <a:rPr lang="en-US" sz="3079" b="true">
                <a:solidFill>
                  <a:srgbClr val="000000"/>
                </a:solidFill>
                <a:latin typeface="Inter Bold"/>
                <a:ea typeface="Inter Bold"/>
                <a:cs typeface="Inter Bold"/>
                <a:sym typeface="Inter Bold"/>
              </a:rPr>
              <a:t>Berikut tugas dan tanggung jawab Juru masak </a:t>
            </a:r>
            <a:r>
              <a:rPr lang="en-US" sz="3079" b="true">
                <a:solidFill>
                  <a:srgbClr val="000000"/>
                </a:solidFill>
                <a:latin typeface="Inter Bold"/>
                <a:ea typeface="Inter Bold"/>
                <a:cs typeface="Inter Bold"/>
                <a:sym typeface="Inter Bold"/>
              </a:rPr>
              <a:t>Di Satuan Pelayanan program </a:t>
            </a:r>
          </a:p>
          <a:p>
            <a:pPr algn="just">
              <a:lnSpc>
                <a:spcPts val="3449"/>
              </a:lnSpc>
            </a:pPr>
            <a:r>
              <a:rPr lang="en-US" sz="3079" b="true">
                <a:solidFill>
                  <a:srgbClr val="000000"/>
                </a:solidFill>
                <a:latin typeface="Inter Bold"/>
                <a:ea typeface="Inter Bold"/>
                <a:cs typeface="Inter Bold"/>
                <a:sym typeface="Inter Bold"/>
              </a:rPr>
              <a:t>pemenuhan Gizi yaitu :</a:t>
            </a:r>
          </a:p>
          <a:p>
            <a:pPr algn="just">
              <a:lnSpc>
                <a:spcPts val="3449"/>
              </a:lnSpc>
            </a:pPr>
            <a:r>
              <a:rPr lang="en-US" sz="3079" b="true">
                <a:solidFill>
                  <a:srgbClr val="000000"/>
                </a:solidFill>
                <a:latin typeface="Inter Bold"/>
                <a:ea typeface="Inter Bold"/>
                <a:cs typeface="Inter Bold"/>
                <a:sym typeface="Inter Bold"/>
              </a:rPr>
              <a:t>a) Menyusun menu makanan bersama dengan Pengawas Gizi </a:t>
            </a:r>
          </a:p>
          <a:p>
            <a:pPr algn="just">
              <a:lnSpc>
                <a:spcPts val="3449"/>
              </a:lnSpc>
            </a:pPr>
            <a:r>
              <a:rPr lang="en-US" sz="3079" b="true">
                <a:solidFill>
                  <a:srgbClr val="000000"/>
                </a:solidFill>
                <a:latin typeface="Inter Bold"/>
                <a:ea typeface="Inter Bold"/>
                <a:cs typeface="Inter Bold"/>
                <a:sym typeface="Inter Bold"/>
              </a:rPr>
              <a:t>b) Memimpin dan mengatur tim yang memasak dan menjalankan pekerjaan dengan efisien. </a:t>
            </a:r>
          </a:p>
          <a:p>
            <a:pPr algn="just">
              <a:lnSpc>
                <a:spcPts val="3449"/>
              </a:lnSpc>
            </a:pPr>
            <a:r>
              <a:rPr lang="en-US" sz="3079" b="true">
                <a:solidFill>
                  <a:srgbClr val="000000"/>
                </a:solidFill>
                <a:latin typeface="Inter Bold"/>
                <a:ea typeface="Inter Bold"/>
                <a:cs typeface="Inter Bold"/>
                <a:sym typeface="Inter Bold"/>
              </a:rPr>
              <a:t>c) Menyiapkan bahan-bahan masakan sesuai dengan resep yang telah ditentukan,</a:t>
            </a:r>
          </a:p>
          <a:p>
            <a:pPr algn="just">
              <a:lnSpc>
                <a:spcPts val="3449"/>
              </a:lnSpc>
            </a:pPr>
            <a:r>
              <a:rPr lang="en-US" sz="3079" b="true">
                <a:solidFill>
                  <a:srgbClr val="000000"/>
                </a:solidFill>
                <a:latin typeface="Inter Bold"/>
                <a:ea typeface="Inter Bold"/>
                <a:cs typeface="Inter Bold"/>
                <a:sym typeface="Inter Bold"/>
              </a:rPr>
              <a:t>serta memastikan  kualitas dan kebersihan bahan makanan. </a:t>
            </a:r>
          </a:p>
          <a:p>
            <a:pPr algn="just">
              <a:lnSpc>
                <a:spcPts val="3449"/>
              </a:lnSpc>
            </a:pPr>
            <a:r>
              <a:rPr lang="en-US" sz="3079" b="true">
                <a:solidFill>
                  <a:srgbClr val="000000"/>
                </a:solidFill>
                <a:latin typeface="Inter Bold"/>
                <a:ea typeface="Inter Bold"/>
                <a:cs typeface="Inter Bold"/>
                <a:sym typeface="Inter Bold"/>
              </a:rPr>
              <a:t>d) Memasak makanan di area SPPG sesuai standar gizi yang ditetapkan. </a:t>
            </a:r>
          </a:p>
          <a:p>
            <a:pPr algn="just">
              <a:lnSpc>
                <a:spcPts val="3449"/>
              </a:lnSpc>
            </a:pPr>
            <a:r>
              <a:rPr lang="en-US" sz="3079" b="true">
                <a:solidFill>
                  <a:srgbClr val="000000"/>
                </a:solidFill>
                <a:latin typeface="Inter Bold"/>
                <a:ea typeface="Inter Bold"/>
                <a:cs typeface="Inter Bold"/>
                <a:sym typeface="Inter Bold"/>
              </a:rPr>
              <a:t>e) Bersama Pengawas Keuangan, memeriksa jumlah dan kualitas bahan baku yang akan masuk ke SPPG. </a:t>
            </a:r>
          </a:p>
          <a:p>
            <a:pPr algn="just">
              <a:lnSpc>
                <a:spcPts val="3449"/>
              </a:lnSpc>
            </a:pPr>
            <a:r>
              <a:rPr lang="en-US" sz="3079" b="true">
                <a:solidFill>
                  <a:srgbClr val="000000"/>
                </a:solidFill>
                <a:latin typeface="Inter Bold"/>
                <a:ea typeface="Inter Bold"/>
                <a:cs typeface="Inter Bold"/>
                <a:sym typeface="Inter Bold"/>
              </a:rPr>
              <a:t>f) Bersama Pengawas Keuangan, memeriksa persediaan dan kualitas bahan makanan tetap terjaga, dan melaporkan kepada Kepala SPPG kebutuhan bahan baku. </a:t>
            </a:r>
          </a:p>
          <a:p>
            <a:pPr algn="just">
              <a:lnSpc>
                <a:spcPts val="3449"/>
              </a:lnSpc>
            </a:pPr>
            <a:r>
              <a:rPr lang="en-US" sz="3079" b="true">
                <a:solidFill>
                  <a:srgbClr val="000000"/>
                </a:solidFill>
                <a:latin typeface="Inter Bold"/>
                <a:ea typeface="Inter Bold"/>
                <a:cs typeface="Inter Bold"/>
                <a:sym typeface="Inter Bold"/>
              </a:rPr>
              <a:t>g) Menjaga standar kebersihan ruang pengolahan makanan serta memastikan bahwa masakan yang dihasilkan memiliki rasa dan kualitas yang sesuai dengan standar berkualitas. ekspektasi makanan yang </a:t>
            </a:r>
          </a:p>
          <a:p>
            <a:pPr algn="just">
              <a:lnSpc>
                <a:spcPts val="3449"/>
              </a:lnSpc>
            </a:pPr>
            <a:r>
              <a:rPr lang="en-US" sz="3079" b="true">
                <a:solidFill>
                  <a:srgbClr val="000000"/>
                </a:solidFill>
                <a:latin typeface="Inter Bold"/>
                <a:ea typeface="Inter Bold"/>
                <a:cs typeface="Inter Bold"/>
                <a:sym typeface="Inter Bold"/>
              </a:rPr>
              <a:t>h) Berkomunikasi secara efektif dengan personil SPPG lainnya untuk memastikan kelancaran jalannya proses memasak, terutama dalam pengaturan waktu penyajian.</a:t>
            </a:r>
          </a:p>
          <a:p>
            <a:pPr algn="just">
              <a:lnSpc>
                <a:spcPts val="3449"/>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true" flipV="false" rot="0">
            <a:off x="0" y="6318746"/>
            <a:ext cx="6124273" cy="4281887"/>
          </a:xfrm>
          <a:custGeom>
            <a:avLst/>
            <a:gdLst/>
            <a:ahLst/>
            <a:cxnLst/>
            <a:rect r="r" b="b" t="t" l="l"/>
            <a:pathLst>
              <a:path h="4281887" w="6124273">
                <a:moveTo>
                  <a:pt x="6124273" y="0"/>
                </a:moveTo>
                <a:lnTo>
                  <a:pt x="0" y="0"/>
                </a:lnTo>
                <a:lnTo>
                  <a:pt x="0" y="4281887"/>
                </a:lnTo>
                <a:lnTo>
                  <a:pt x="6124273" y="4281887"/>
                </a:lnTo>
                <a:lnTo>
                  <a:pt x="6124273"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9934" y="0"/>
            <a:ext cx="4532959" cy="4245872"/>
          </a:xfrm>
          <a:custGeom>
            <a:avLst/>
            <a:gdLst/>
            <a:ahLst/>
            <a:cxnLst/>
            <a:rect r="r" b="b" t="t" l="l"/>
            <a:pathLst>
              <a:path h="4245872" w="4532959">
                <a:moveTo>
                  <a:pt x="0" y="0"/>
                </a:moveTo>
                <a:lnTo>
                  <a:pt x="4532959" y="0"/>
                </a:lnTo>
                <a:lnTo>
                  <a:pt x="4532959" y="4245872"/>
                </a:lnTo>
                <a:lnTo>
                  <a:pt x="0" y="42458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77836" y="0"/>
            <a:ext cx="1885101" cy="1619230"/>
          </a:xfrm>
          <a:custGeom>
            <a:avLst/>
            <a:gdLst/>
            <a:ahLst/>
            <a:cxnLst/>
            <a:rect r="r" b="b" t="t" l="l"/>
            <a:pathLst>
              <a:path h="1619230" w="1885101">
                <a:moveTo>
                  <a:pt x="0" y="0"/>
                </a:moveTo>
                <a:lnTo>
                  <a:pt x="1885101" y="0"/>
                </a:lnTo>
                <a:lnTo>
                  <a:pt x="1885101" y="1619230"/>
                </a:lnTo>
                <a:lnTo>
                  <a:pt x="0" y="1619230"/>
                </a:lnTo>
                <a:lnTo>
                  <a:pt x="0" y="0"/>
                </a:lnTo>
                <a:close/>
              </a:path>
            </a:pathLst>
          </a:custGeom>
          <a:blipFill>
            <a:blip r:embed="rId6"/>
            <a:stretch>
              <a:fillRect l="0" t="-29178" r="0" b="-5350"/>
            </a:stretch>
          </a:blipFill>
        </p:spPr>
      </p:sp>
      <p:grpSp>
        <p:nvGrpSpPr>
          <p:cNvPr name="Group 5" id="5"/>
          <p:cNvGrpSpPr/>
          <p:nvPr/>
        </p:nvGrpSpPr>
        <p:grpSpPr>
          <a:xfrm rot="0">
            <a:off x="-80169" y="9509796"/>
            <a:ext cx="18368169" cy="777204"/>
            <a:chOff x="0" y="0"/>
            <a:chExt cx="4837707" cy="204696"/>
          </a:xfrm>
        </p:grpSpPr>
        <p:sp>
          <p:nvSpPr>
            <p:cNvPr name="Freeform 6" id="6"/>
            <p:cNvSpPr/>
            <p:nvPr/>
          </p:nvSpPr>
          <p:spPr>
            <a:xfrm flipH="false" flipV="false" rot="0">
              <a:off x="0" y="0"/>
              <a:ext cx="4837707" cy="204696"/>
            </a:xfrm>
            <a:custGeom>
              <a:avLst/>
              <a:gdLst/>
              <a:ahLst/>
              <a:cxnLst/>
              <a:rect r="r" b="b" t="t" l="l"/>
              <a:pathLst>
                <a:path h="204696" w="4837707">
                  <a:moveTo>
                    <a:pt x="0" y="0"/>
                  </a:moveTo>
                  <a:lnTo>
                    <a:pt x="4837707" y="0"/>
                  </a:lnTo>
                  <a:lnTo>
                    <a:pt x="4837707" y="204696"/>
                  </a:lnTo>
                  <a:lnTo>
                    <a:pt x="0" y="204696"/>
                  </a:lnTo>
                  <a:close/>
                </a:path>
              </a:pathLst>
            </a:custGeom>
            <a:solidFill>
              <a:srgbClr val="00004D"/>
            </a:solidFill>
          </p:spPr>
        </p:sp>
        <p:sp>
          <p:nvSpPr>
            <p:cNvPr name="TextBox 7" id="7"/>
            <p:cNvSpPr txBox="true"/>
            <p:nvPr/>
          </p:nvSpPr>
          <p:spPr>
            <a:xfrm>
              <a:off x="0" y="-38100"/>
              <a:ext cx="4837707" cy="242796"/>
            </a:xfrm>
            <a:prstGeom prst="rect">
              <a:avLst/>
            </a:prstGeom>
          </p:spPr>
          <p:txBody>
            <a:bodyPr anchor="ctr" rtlCol="false" tIns="50800" lIns="50800" bIns="50800" rIns="50800"/>
            <a:lstStyle/>
            <a:p>
              <a:pPr algn="ctr">
                <a:lnSpc>
                  <a:spcPts val="3194"/>
                </a:lnSpc>
              </a:pPr>
            </a:p>
          </p:txBody>
        </p:sp>
      </p:grpSp>
      <p:grpSp>
        <p:nvGrpSpPr>
          <p:cNvPr name="Group 8" id="8"/>
          <p:cNvGrpSpPr/>
          <p:nvPr/>
        </p:nvGrpSpPr>
        <p:grpSpPr>
          <a:xfrm rot="0">
            <a:off x="1628965" y="417992"/>
            <a:ext cx="3881590" cy="783245"/>
            <a:chOff x="0" y="0"/>
            <a:chExt cx="5175454" cy="1044327"/>
          </a:xfrm>
        </p:grpSpPr>
        <p:sp>
          <p:nvSpPr>
            <p:cNvPr name="TextBox 9" id="9"/>
            <p:cNvSpPr txBox="true"/>
            <p:nvPr/>
          </p:nvSpPr>
          <p:spPr>
            <a:xfrm rot="0">
              <a:off x="0" y="474538"/>
              <a:ext cx="4606605" cy="569788"/>
            </a:xfrm>
            <a:prstGeom prst="rect">
              <a:avLst/>
            </a:prstGeom>
          </p:spPr>
          <p:txBody>
            <a:bodyPr anchor="t" rtlCol="false" tIns="0" lIns="0" bIns="0" rIns="0">
              <a:spAutoFit/>
            </a:bodyPr>
            <a:lstStyle/>
            <a:p>
              <a:pPr algn="l">
                <a:lnSpc>
                  <a:spcPts val="3614"/>
                </a:lnSpc>
              </a:pPr>
              <a:r>
                <a:rPr lang="en-US" sz="2581" b="true">
                  <a:solidFill>
                    <a:srgbClr val="000000"/>
                  </a:solidFill>
                  <a:latin typeface="Inter Bold"/>
                  <a:ea typeface="Inter Bold"/>
                  <a:cs typeface="Inter Bold"/>
                  <a:sym typeface="Inter Bold"/>
                </a:rPr>
                <a:t>Sppg Sindang Asih</a:t>
              </a:r>
            </a:p>
          </p:txBody>
        </p:sp>
        <p:sp>
          <p:nvSpPr>
            <p:cNvPr name="TextBox 10" id="10"/>
            <p:cNvSpPr txBox="true"/>
            <p:nvPr/>
          </p:nvSpPr>
          <p:spPr>
            <a:xfrm rot="0">
              <a:off x="0" y="-47625"/>
              <a:ext cx="5175454" cy="569788"/>
            </a:xfrm>
            <a:prstGeom prst="rect">
              <a:avLst/>
            </a:prstGeom>
          </p:spPr>
          <p:txBody>
            <a:bodyPr anchor="t" rtlCol="false" tIns="0" lIns="0" bIns="0" rIns="0">
              <a:spAutoFit/>
            </a:bodyPr>
            <a:lstStyle/>
            <a:p>
              <a:pPr algn="l">
                <a:lnSpc>
                  <a:spcPts val="3614"/>
                </a:lnSpc>
              </a:pPr>
              <a:r>
                <a:rPr lang="en-US" sz="2581" b="true">
                  <a:solidFill>
                    <a:srgbClr val="000000"/>
                  </a:solidFill>
                  <a:latin typeface="Inter Bold"/>
                  <a:ea typeface="Inter Bold"/>
                  <a:cs typeface="Inter Bold"/>
                  <a:sym typeface="Inter Bold"/>
                </a:rPr>
                <a:t>Badan Gizi Nasional</a:t>
              </a:r>
            </a:p>
          </p:txBody>
        </p:sp>
      </p:grpSp>
      <p:sp>
        <p:nvSpPr>
          <p:cNvPr name="TextBox 11" id="11"/>
          <p:cNvSpPr txBox="true"/>
          <p:nvPr/>
        </p:nvSpPr>
        <p:spPr>
          <a:xfrm rot="0">
            <a:off x="4236395" y="1057275"/>
            <a:ext cx="9735040" cy="905764"/>
          </a:xfrm>
          <a:prstGeom prst="rect">
            <a:avLst/>
          </a:prstGeom>
        </p:spPr>
        <p:txBody>
          <a:bodyPr anchor="t" rtlCol="false" tIns="0" lIns="0" bIns="0" rIns="0">
            <a:spAutoFit/>
          </a:bodyPr>
          <a:lstStyle/>
          <a:p>
            <a:pPr algn="ctr">
              <a:lnSpc>
                <a:spcPts val="7061"/>
              </a:lnSpc>
            </a:pPr>
            <a:r>
              <a:rPr lang="en-US" sz="6140">
                <a:solidFill>
                  <a:srgbClr val="000000"/>
                </a:solidFill>
                <a:latin typeface="Rye"/>
                <a:ea typeface="Rye"/>
                <a:cs typeface="Rye"/>
                <a:sym typeface="Rye"/>
              </a:rPr>
              <a:t>ASISTEN LAPANGAN</a:t>
            </a:r>
          </a:p>
        </p:txBody>
      </p:sp>
      <p:sp>
        <p:nvSpPr>
          <p:cNvPr name="TextBox 12" id="12"/>
          <p:cNvSpPr txBox="true"/>
          <p:nvPr/>
        </p:nvSpPr>
        <p:spPr>
          <a:xfrm rot="0">
            <a:off x="420823" y="2432788"/>
            <a:ext cx="16996803" cy="6673263"/>
          </a:xfrm>
          <a:prstGeom prst="rect">
            <a:avLst/>
          </a:prstGeom>
        </p:spPr>
        <p:txBody>
          <a:bodyPr anchor="t" rtlCol="false" tIns="0" lIns="0" bIns="0" rIns="0">
            <a:spAutoFit/>
          </a:bodyPr>
          <a:lstStyle/>
          <a:p>
            <a:pPr algn="just">
              <a:lnSpc>
                <a:spcPts val="3785"/>
              </a:lnSpc>
            </a:pPr>
            <a:r>
              <a:rPr lang="en-US" sz="3379" b="true">
                <a:solidFill>
                  <a:srgbClr val="000000"/>
                </a:solidFill>
                <a:latin typeface="Inter Bold"/>
                <a:ea typeface="Inter Bold"/>
                <a:cs typeface="Inter Bold"/>
                <a:sym typeface="Inter Bold"/>
              </a:rPr>
              <a:t>Berikut tugas dan tanggung jawab Asisten lapangan </a:t>
            </a:r>
            <a:r>
              <a:rPr lang="en-US" sz="3379" b="true">
                <a:solidFill>
                  <a:srgbClr val="000000"/>
                </a:solidFill>
                <a:latin typeface="Inter Bold"/>
                <a:ea typeface="Inter Bold"/>
                <a:cs typeface="Inter Bold"/>
                <a:sym typeface="Inter Bold"/>
              </a:rPr>
              <a:t>Di Satuan Pelayanan program pemenuhan Gizi yaitu :</a:t>
            </a:r>
          </a:p>
          <a:p>
            <a:pPr algn="just">
              <a:lnSpc>
                <a:spcPts val="3785"/>
              </a:lnSpc>
            </a:pPr>
            <a:r>
              <a:rPr lang="en-US" sz="3379" b="true">
                <a:solidFill>
                  <a:srgbClr val="000000"/>
                </a:solidFill>
                <a:latin typeface="Inter Bold"/>
                <a:ea typeface="Inter Bold"/>
                <a:cs typeface="Inter Bold"/>
                <a:sym typeface="Inter Bold"/>
              </a:rPr>
              <a:t>a) Sebagai pelaksana terdepan dalam menjalin hubungan dengan pihak eksternal khususnya dengan pihak satuan pendidikan. </a:t>
            </a:r>
          </a:p>
          <a:p>
            <a:pPr algn="just">
              <a:lnSpc>
                <a:spcPts val="3785"/>
              </a:lnSpc>
            </a:pPr>
            <a:r>
              <a:rPr lang="en-US" sz="3379" b="true">
                <a:solidFill>
                  <a:srgbClr val="000000"/>
                </a:solidFill>
                <a:latin typeface="Inter Bold"/>
                <a:ea typeface="Inter Bold"/>
                <a:cs typeface="Inter Bold"/>
                <a:sym typeface="Inter Bold"/>
              </a:rPr>
              <a:t>b) Memastikan proses produksi berjalan lancar tidak ada halangan serta selesai sesuai waktu yang sudah ditentukan. </a:t>
            </a:r>
          </a:p>
          <a:p>
            <a:pPr algn="just">
              <a:lnSpc>
                <a:spcPts val="3785"/>
              </a:lnSpc>
            </a:pPr>
            <a:r>
              <a:rPr lang="en-US" sz="3379" b="true">
                <a:solidFill>
                  <a:srgbClr val="000000"/>
                </a:solidFill>
                <a:latin typeface="Inter Bold"/>
                <a:ea typeface="Inter Bold"/>
                <a:cs typeface="Inter Bold"/>
                <a:sym typeface="Inter Bold"/>
              </a:rPr>
              <a:t>c) Memastikan ketersediaan bahan baku untuk Produksi. </a:t>
            </a:r>
          </a:p>
          <a:p>
            <a:pPr algn="just">
              <a:lnSpc>
                <a:spcPts val="3785"/>
              </a:lnSpc>
            </a:pPr>
            <a:r>
              <a:rPr lang="en-US" sz="3379" b="true">
                <a:solidFill>
                  <a:srgbClr val="000000"/>
                </a:solidFill>
                <a:latin typeface="Inter Bold"/>
                <a:ea typeface="Inter Bold"/>
                <a:cs typeface="Inter Bold"/>
                <a:sym typeface="Inter Bold"/>
              </a:rPr>
              <a:t>d) Bertanggung jawab terhadap pemutakhiran (update) jumlah porsi yang diproduksi dan didistribusikan setiap harinya. </a:t>
            </a:r>
          </a:p>
          <a:p>
            <a:pPr algn="just">
              <a:lnSpc>
                <a:spcPts val="3785"/>
              </a:lnSpc>
            </a:pPr>
            <a:r>
              <a:rPr lang="en-US" sz="3379" b="true">
                <a:solidFill>
                  <a:srgbClr val="000000"/>
                </a:solidFill>
                <a:latin typeface="Inter Bold"/>
                <a:ea typeface="Inter Bold"/>
                <a:cs typeface="Inter Bold"/>
                <a:sym typeface="Inter Bold"/>
              </a:rPr>
              <a:t>e) Memastikan hubungan ke pihak satuan pendidikan berjalan dengan harmonis dan proaktif. </a:t>
            </a:r>
          </a:p>
          <a:p>
            <a:pPr algn="just">
              <a:lnSpc>
                <a:spcPts val="3785"/>
              </a:lnSpc>
            </a:pPr>
            <a:r>
              <a:rPr lang="en-US" sz="3379" b="true">
                <a:solidFill>
                  <a:srgbClr val="000000"/>
                </a:solidFill>
                <a:latin typeface="Inter Bold"/>
                <a:ea typeface="Inter Bold"/>
                <a:cs typeface="Inter Bold"/>
                <a:sym typeface="Inter Bold"/>
              </a:rPr>
              <a:t>f) Monitoring dan evaluasi terhadap kinerja dari bagian packaging, distribusi, petugas kebersihan dan pencuci alat makan. </a:t>
            </a:r>
          </a:p>
          <a:p>
            <a:pPr algn="just">
              <a:lnSpc>
                <a:spcPts val="3785"/>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true" flipV="false" rot="0">
            <a:off x="0" y="6318746"/>
            <a:ext cx="6124273" cy="4281887"/>
          </a:xfrm>
          <a:custGeom>
            <a:avLst/>
            <a:gdLst/>
            <a:ahLst/>
            <a:cxnLst/>
            <a:rect r="r" b="b" t="t" l="l"/>
            <a:pathLst>
              <a:path h="4281887" w="6124273">
                <a:moveTo>
                  <a:pt x="6124273" y="0"/>
                </a:moveTo>
                <a:lnTo>
                  <a:pt x="0" y="0"/>
                </a:lnTo>
                <a:lnTo>
                  <a:pt x="0" y="4281887"/>
                </a:lnTo>
                <a:lnTo>
                  <a:pt x="6124273" y="4281887"/>
                </a:lnTo>
                <a:lnTo>
                  <a:pt x="6124273"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9934" y="0"/>
            <a:ext cx="4532959" cy="4245872"/>
          </a:xfrm>
          <a:custGeom>
            <a:avLst/>
            <a:gdLst/>
            <a:ahLst/>
            <a:cxnLst/>
            <a:rect r="r" b="b" t="t" l="l"/>
            <a:pathLst>
              <a:path h="4245872" w="4532959">
                <a:moveTo>
                  <a:pt x="0" y="0"/>
                </a:moveTo>
                <a:lnTo>
                  <a:pt x="4532959" y="0"/>
                </a:lnTo>
                <a:lnTo>
                  <a:pt x="4532959" y="4245872"/>
                </a:lnTo>
                <a:lnTo>
                  <a:pt x="0" y="42458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77836" y="0"/>
            <a:ext cx="1885101" cy="1619230"/>
          </a:xfrm>
          <a:custGeom>
            <a:avLst/>
            <a:gdLst/>
            <a:ahLst/>
            <a:cxnLst/>
            <a:rect r="r" b="b" t="t" l="l"/>
            <a:pathLst>
              <a:path h="1619230" w="1885101">
                <a:moveTo>
                  <a:pt x="0" y="0"/>
                </a:moveTo>
                <a:lnTo>
                  <a:pt x="1885101" y="0"/>
                </a:lnTo>
                <a:lnTo>
                  <a:pt x="1885101" y="1619230"/>
                </a:lnTo>
                <a:lnTo>
                  <a:pt x="0" y="1619230"/>
                </a:lnTo>
                <a:lnTo>
                  <a:pt x="0" y="0"/>
                </a:lnTo>
                <a:close/>
              </a:path>
            </a:pathLst>
          </a:custGeom>
          <a:blipFill>
            <a:blip r:embed="rId6"/>
            <a:stretch>
              <a:fillRect l="0" t="-29178" r="0" b="-5350"/>
            </a:stretch>
          </a:blipFill>
        </p:spPr>
      </p:sp>
      <p:grpSp>
        <p:nvGrpSpPr>
          <p:cNvPr name="Group 5" id="5"/>
          <p:cNvGrpSpPr/>
          <p:nvPr/>
        </p:nvGrpSpPr>
        <p:grpSpPr>
          <a:xfrm rot="0">
            <a:off x="-80169" y="9509796"/>
            <a:ext cx="18368169" cy="777204"/>
            <a:chOff x="0" y="0"/>
            <a:chExt cx="4837707" cy="204696"/>
          </a:xfrm>
        </p:grpSpPr>
        <p:sp>
          <p:nvSpPr>
            <p:cNvPr name="Freeform 6" id="6"/>
            <p:cNvSpPr/>
            <p:nvPr/>
          </p:nvSpPr>
          <p:spPr>
            <a:xfrm flipH="false" flipV="false" rot="0">
              <a:off x="0" y="0"/>
              <a:ext cx="4837707" cy="204696"/>
            </a:xfrm>
            <a:custGeom>
              <a:avLst/>
              <a:gdLst/>
              <a:ahLst/>
              <a:cxnLst/>
              <a:rect r="r" b="b" t="t" l="l"/>
              <a:pathLst>
                <a:path h="204696" w="4837707">
                  <a:moveTo>
                    <a:pt x="0" y="0"/>
                  </a:moveTo>
                  <a:lnTo>
                    <a:pt x="4837707" y="0"/>
                  </a:lnTo>
                  <a:lnTo>
                    <a:pt x="4837707" y="204696"/>
                  </a:lnTo>
                  <a:lnTo>
                    <a:pt x="0" y="204696"/>
                  </a:lnTo>
                  <a:close/>
                </a:path>
              </a:pathLst>
            </a:custGeom>
            <a:solidFill>
              <a:srgbClr val="00004D"/>
            </a:solidFill>
          </p:spPr>
        </p:sp>
        <p:sp>
          <p:nvSpPr>
            <p:cNvPr name="TextBox 7" id="7"/>
            <p:cNvSpPr txBox="true"/>
            <p:nvPr/>
          </p:nvSpPr>
          <p:spPr>
            <a:xfrm>
              <a:off x="0" y="-38100"/>
              <a:ext cx="4837707" cy="242796"/>
            </a:xfrm>
            <a:prstGeom prst="rect">
              <a:avLst/>
            </a:prstGeom>
          </p:spPr>
          <p:txBody>
            <a:bodyPr anchor="ctr" rtlCol="false" tIns="50800" lIns="50800" bIns="50800" rIns="50800"/>
            <a:lstStyle/>
            <a:p>
              <a:pPr algn="ctr">
                <a:lnSpc>
                  <a:spcPts val="3194"/>
                </a:lnSpc>
              </a:pPr>
            </a:p>
          </p:txBody>
        </p:sp>
      </p:grpSp>
      <p:grpSp>
        <p:nvGrpSpPr>
          <p:cNvPr name="Group 8" id="8"/>
          <p:cNvGrpSpPr/>
          <p:nvPr/>
        </p:nvGrpSpPr>
        <p:grpSpPr>
          <a:xfrm rot="0">
            <a:off x="1628965" y="417992"/>
            <a:ext cx="3881590" cy="783245"/>
            <a:chOff x="0" y="0"/>
            <a:chExt cx="5175454" cy="1044327"/>
          </a:xfrm>
        </p:grpSpPr>
        <p:sp>
          <p:nvSpPr>
            <p:cNvPr name="TextBox 9" id="9"/>
            <p:cNvSpPr txBox="true"/>
            <p:nvPr/>
          </p:nvSpPr>
          <p:spPr>
            <a:xfrm rot="0">
              <a:off x="0" y="474538"/>
              <a:ext cx="4606605" cy="569788"/>
            </a:xfrm>
            <a:prstGeom prst="rect">
              <a:avLst/>
            </a:prstGeom>
          </p:spPr>
          <p:txBody>
            <a:bodyPr anchor="t" rtlCol="false" tIns="0" lIns="0" bIns="0" rIns="0">
              <a:spAutoFit/>
            </a:bodyPr>
            <a:lstStyle/>
            <a:p>
              <a:pPr algn="l">
                <a:lnSpc>
                  <a:spcPts val="3614"/>
                </a:lnSpc>
              </a:pPr>
              <a:r>
                <a:rPr lang="en-US" sz="2581" b="true">
                  <a:solidFill>
                    <a:srgbClr val="000000"/>
                  </a:solidFill>
                  <a:latin typeface="Inter Bold"/>
                  <a:ea typeface="Inter Bold"/>
                  <a:cs typeface="Inter Bold"/>
                  <a:sym typeface="Inter Bold"/>
                </a:rPr>
                <a:t>Sppg Sindang Asih</a:t>
              </a:r>
            </a:p>
          </p:txBody>
        </p:sp>
        <p:sp>
          <p:nvSpPr>
            <p:cNvPr name="TextBox 10" id="10"/>
            <p:cNvSpPr txBox="true"/>
            <p:nvPr/>
          </p:nvSpPr>
          <p:spPr>
            <a:xfrm rot="0">
              <a:off x="0" y="-47625"/>
              <a:ext cx="5175454" cy="569788"/>
            </a:xfrm>
            <a:prstGeom prst="rect">
              <a:avLst/>
            </a:prstGeom>
          </p:spPr>
          <p:txBody>
            <a:bodyPr anchor="t" rtlCol="false" tIns="0" lIns="0" bIns="0" rIns="0">
              <a:spAutoFit/>
            </a:bodyPr>
            <a:lstStyle/>
            <a:p>
              <a:pPr algn="l">
                <a:lnSpc>
                  <a:spcPts val="3614"/>
                </a:lnSpc>
              </a:pPr>
              <a:r>
                <a:rPr lang="en-US" sz="2581" b="true">
                  <a:solidFill>
                    <a:srgbClr val="000000"/>
                  </a:solidFill>
                  <a:latin typeface="Inter Bold"/>
                  <a:ea typeface="Inter Bold"/>
                  <a:cs typeface="Inter Bold"/>
                  <a:sym typeface="Inter Bold"/>
                </a:rPr>
                <a:t>Badan Gizi Nasional</a:t>
              </a:r>
            </a:p>
          </p:txBody>
        </p:sp>
      </p:grpSp>
      <p:sp>
        <p:nvSpPr>
          <p:cNvPr name="TextBox 11" id="11"/>
          <p:cNvSpPr txBox="true"/>
          <p:nvPr/>
        </p:nvSpPr>
        <p:spPr>
          <a:xfrm rot="0">
            <a:off x="4236395" y="1057275"/>
            <a:ext cx="9735040" cy="905764"/>
          </a:xfrm>
          <a:prstGeom prst="rect">
            <a:avLst/>
          </a:prstGeom>
        </p:spPr>
        <p:txBody>
          <a:bodyPr anchor="t" rtlCol="false" tIns="0" lIns="0" bIns="0" rIns="0">
            <a:spAutoFit/>
          </a:bodyPr>
          <a:lstStyle/>
          <a:p>
            <a:pPr algn="ctr">
              <a:lnSpc>
                <a:spcPts val="7061"/>
              </a:lnSpc>
            </a:pPr>
            <a:r>
              <a:rPr lang="en-US" sz="6140">
                <a:solidFill>
                  <a:srgbClr val="000000"/>
                </a:solidFill>
                <a:latin typeface="Rye"/>
                <a:ea typeface="Rye"/>
                <a:cs typeface="Rye"/>
                <a:sym typeface="Rye"/>
              </a:rPr>
              <a:t>ASISTEN LAPANGAN</a:t>
            </a:r>
          </a:p>
        </p:txBody>
      </p:sp>
      <p:sp>
        <p:nvSpPr>
          <p:cNvPr name="TextBox 12" id="12"/>
          <p:cNvSpPr txBox="true"/>
          <p:nvPr/>
        </p:nvSpPr>
        <p:spPr>
          <a:xfrm rot="0">
            <a:off x="420823" y="2432788"/>
            <a:ext cx="17396405" cy="5845604"/>
          </a:xfrm>
          <a:prstGeom prst="rect">
            <a:avLst/>
          </a:prstGeom>
        </p:spPr>
        <p:txBody>
          <a:bodyPr anchor="t" rtlCol="false" tIns="0" lIns="0" bIns="0" rIns="0">
            <a:spAutoFit/>
          </a:bodyPr>
          <a:lstStyle/>
          <a:p>
            <a:pPr algn="just">
              <a:lnSpc>
                <a:spcPts val="3897"/>
              </a:lnSpc>
            </a:pPr>
            <a:r>
              <a:rPr lang="en-US" sz="3479" b="true">
                <a:solidFill>
                  <a:srgbClr val="000000"/>
                </a:solidFill>
                <a:latin typeface="Inter Bold"/>
                <a:ea typeface="Inter Bold"/>
                <a:cs typeface="Inter Bold"/>
                <a:sym typeface="Inter Bold"/>
              </a:rPr>
              <a:t>g) Bertanggung jawab dalam mengatur pengeluaran operasional selama kegiatan (Bensin, gas, dan lainnya).</a:t>
            </a:r>
            <a:r>
              <a:rPr lang="en-US" sz="3479" b="true">
                <a:solidFill>
                  <a:srgbClr val="000000"/>
                </a:solidFill>
                <a:latin typeface="Inter Bold"/>
                <a:ea typeface="Inter Bold"/>
                <a:cs typeface="Inter Bold"/>
                <a:sym typeface="Inter Bold"/>
              </a:rPr>
              <a:t> </a:t>
            </a:r>
          </a:p>
          <a:p>
            <a:pPr algn="just">
              <a:lnSpc>
                <a:spcPts val="3897"/>
              </a:lnSpc>
            </a:pPr>
            <a:r>
              <a:rPr lang="en-US" sz="3479" b="true">
                <a:solidFill>
                  <a:srgbClr val="000000"/>
                </a:solidFill>
                <a:latin typeface="Inter Bold"/>
                <a:ea typeface="Inter Bold"/>
                <a:cs typeface="Inter Bold"/>
                <a:sym typeface="Inter Bold"/>
              </a:rPr>
              <a:t>h) Bertanggung jawab terhadap Quality Control, pencatatan dan penimbangan bahan baku yang masuk ke unit pelayanan. </a:t>
            </a:r>
          </a:p>
          <a:p>
            <a:pPr algn="just">
              <a:lnSpc>
                <a:spcPts val="3897"/>
              </a:lnSpc>
            </a:pPr>
            <a:r>
              <a:rPr lang="en-US" sz="3479" b="true">
                <a:solidFill>
                  <a:srgbClr val="000000"/>
                </a:solidFill>
                <a:latin typeface="Inter Bold"/>
                <a:ea typeface="Inter Bold"/>
                <a:cs typeface="Inter Bold"/>
                <a:sym typeface="Inter Bold"/>
              </a:rPr>
              <a:t>i) Persiapan Bahan Makanan </a:t>
            </a:r>
          </a:p>
          <a:p>
            <a:pPr algn="just">
              <a:lnSpc>
                <a:spcPts val="3897"/>
              </a:lnSpc>
            </a:pPr>
            <a:r>
              <a:rPr lang="en-US" sz="3479" b="true">
                <a:solidFill>
                  <a:srgbClr val="000000"/>
                </a:solidFill>
                <a:latin typeface="Inter Bold"/>
                <a:ea typeface="Inter Bold"/>
                <a:cs typeface="Inter Bold"/>
                <a:sym typeface="Inter Bold"/>
              </a:rPr>
              <a:t>1) Memastikan ketersedian bahan baku. </a:t>
            </a:r>
          </a:p>
          <a:p>
            <a:pPr algn="just">
              <a:lnSpc>
                <a:spcPts val="3897"/>
              </a:lnSpc>
            </a:pPr>
            <a:r>
              <a:rPr lang="en-US" sz="3479" b="true">
                <a:solidFill>
                  <a:srgbClr val="000000"/>
                </a:solidFill>
                <a:latin typeface="Inter Bold"/>
                <a:ea typeface="Inter Bold"/>
                <a:cs typeface="Inter Bold"/>
                <a:sym typeface="Inter Bold"/>
              </a:rPr>
              <a:t>2) Membersihkan, mengupas, memotong sayuran dan bumbu. </a:t>
            </a:r>
          </a:p>
          <a:p>
            <a:pPr algn="just">
              <a:lnSpc>
                <a:spcPts val="3785"/>
              </a:lnSpc>
            </a:pPr>
            <a:r>
              <a:rPr lang="en-US" sz="3379" b="true">
                <a:solidFill>
                  <a:srgbClr val="000000"/>
                </a:solidFill>
                <a:latin typeface="Inter Bold"/>
                <a:ea typeface="Inter Bold"/>
                <a:cs typeface="Inter Bold"/>
                <a:sym typeface="Inter Bold"/>
              </a:rPr>
              <a:t>3) Menghitung dan mencatat kebutuhan baku, misal 1 kg wortel buat berapa porsi. </a:t>
            </a:r>
          </a:p>
          <a:p>
            <a:pPr algn="just">
              <a:lnSpc>
                <a:spcPts val="4009"/>
              </a:lnSpc>
            </a:pPr>
            <a:r>
              <a:rPr lang="en-US" sz="3579" b="true">
                <a:solidFill>
                  <a:srgbClr val="000000"/>
                </a:solidFill>
                <a:latin typeface="Inter Bold"/>
                <a:ea typeface="Inter Bold"/>
                <a:cs typeface="Inter Bold"/>
                <a:sym typeface="Inter Bold"/>
              </a:rPr>
              <a:t>4) Menghitung dan mencatat sampah dari sayuran yang digunakan. </a:t>
            </a:r>
          </a:p>
          <a:p>
            <a:pPr algn="just">
              <a:lnSpc>
                <a:spcPts val="3897"/>
              </a:lnSpc>
            </a:pPr>
            <a:r>
              <a:rPr lang="en-US" sz="3479" b="true">
                <a:solidFill>
                  <a:srgbClr val="000000"/>
                </a:solidFill>
                <a:latin typeface="Inter Bold"/>
                <a:ea typeface="Inter Bold"/>
                <a:cs typeface="Inter Bold"/>
                <a:sym typeface="Inter Bold"/>
              </a:rPr>
              <a:t>5) Membersihkan lingkungan pekerjaan di sekitar ruangan. </a:t>
            </a:r>
          </a:p>
          <a:p>
            <a:pPr algn="just">
              <a:lnSpc>
                <a:spcPts val="3897"/>
              </a:lnSpc>
            </a:pPr>
            <a:r>
              <a:rPr lang="en-US" sz="3479" b="true">
                <a:solidFill>
                  <a:srgbClr val="000000"/>
                </a:solidFill>
                <a:latin typeface="Inter Bold"/>
                <a:ea typeface="Inter Bold"/>
                <a:cs typeface="Inter Bold"/>
                <a:sym typeface="Inter Bold"/>
              </a:rPr>
              <a:t>6) Memastikan bahan baku yang digunakan higienis.</a:t>
            </a:r>
          </a:p>
          <a:p>
            <a:pPr algn="just">
              <a:lnSpc>
                <a:spcPts val="3897"/>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true" flipV="false" rot="0">
            <a:off x="0" y="6318746"/>
            <a:ext cx="6124273" cy="4281887"/>
          </a:xfrm>
          <a:custGeom>
            <a:avLst/>
            <a:gdLst/>
            <a:ahLst/>
            <a:cxnLst/>
            <a:rect r="r" b="b" t="t" l="l"/>
            <a:pathLst>
              <a:path h="4281887" w="6124273">
                <a:moveTo>
                  <a:pt x="6124273" y="0"/>
                </a:moveTo>
                <a:lnTo>
                  <a:pt x="0" y="0"/>
                </a:lnTo>
                <a:lnTo>
                  <a:pt x="0" y="4281887"/>
                </a:lnTo>
                <a:lnTo>
                  <a:pt x="6124273" y="4281887"/>
                </a:lnTo>
                <a:lnTo>
                  <a:pt x="6124273"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9934" y="0"/>
            <a:ext cx="4532959" cy="4245872"/>
          </a:xfrm>
          <a:custGeom>
            <a:avLst/>
            <a:gdLst/>
            <a:ahLst/>
            <a:cxnLst/>
            <a:rect r="r" b="b" t="t" l="l"/>
            <a:pathLst>
              <a:path h="4245872" w="4532959">
                <a:moveTo>
                  <a:pt x="0" y="0"/>
                </a:moveTo>
                <a:lnTo>
                  <a:pt x="4532959" y="0"/>
                </a:lnTo>
                <a:lnTo>
                  <a:pt x="4532959" y="4245872"/>
                </a:lnTo>
                <a:lnTo>
                  <a:pt x="0" y="42458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77836" y="0"/>
            <a:ext cx="1885101" cy="1619230"/>
          </a:xfrm>
          <a:custGeom>
            <a:avLst/>
            <a:gdLst/>
            <a:ahLst/>
            <a:cxnLst/>
            <a:rect r="r" b="b" t="t" l="l"/>
            <a:pathLst>
              <a:path h="1619230" w="1885101">
                <a:moveTo>
                  <a:pt x="0" y="0"/>
                </a:moveTo>
                <a:lnTo>
                  <a:pt x="1885101" y="0"/>
                </a:lnTo>
                <a:lnTo>
                  <a:pt x="1885101" y="1619230"/>
                </a:lnTo>
                <a:lnTo>
                  <a:pt x="0" y="1619230"/>
                </a:lnTo>
                <a:lnTo>
                  <a:pt x="0" y="0"/>
                </a:lnTo>
                <a:close/>
              </a:path>
            </a:pathLst>
          </a:custGeom>
          <a:blipFill>
            <a:blip r:embed="rId6"/>
            <a:stretch>
              <a:fillRect l="0" t="-29178" r="0" b="-5350"/>
            </a:stretch>
          </a:blipFill>
        </p:spPr>
      </p:sp>
      <p:grpSp>
        <p:nvGrpSpPr>
          <p:cNvPr name="Group 5" id="5"/>
          <p:cNvGrpSpPr/>
          <p:nvPr/>
        </p:nvGrpSpPr>
        <p:grpSpPr>
          <a:xfrm rot="0">
            <a:off x="-80169" y="9509796"/>
            <a:ext cx="18368169" cy="777204"/>
            <a:chOff x="0" y="0"/>
            <a:chExt cx="4837707" cy="204696"/>
          </a:xfrm>
        </p:grpSpPr>
        <p:sp>
          <p:nvSpPr>
            <p:cNvPr name="Freeform 6" id="6"/>
            <p:cNvSpPr/>
            <p:nvPr/>
          </p:nvSpPr>
          <p:spPr>
            <a:xfrm flipH="false" flipV="false" rot="0">
              <a:off x="0" y="0"/>
              <a:ext cx="4837707" cy="204696"/>
            </a:xfrm>
            <a:custGeom>
              <a:avLst/>
              <a:gdLst/>
              <a:ahLst/>
              <a:cxnLst/>
              <a:rect r="r" b="b" t="t" l="l"/>
              <a:pathLst>
                <a:path h="204696" w="4837707">
                  <a:moveTo>
                    <a:pt x="0" y="0"/>
                  </a:moveTo>
                  <a:lnTo>
                    <a:pt x="4837707" y="0"/>
                  </a:lnTo>
                  <a:lnTo>
                    <a:pt x="4837707" y="204696"/>
                  </a:lnTo>
                  <a:lnTo>
                    <a:pt x="0" y="204696"/>
                  </a:lnTo>
                  <a:close/>
                </a:path>
              </a:pathLst>
            </a:custGeom>
            <a:solidFill>
              <a:srgbClr val="00004D"/>
            </a:solidFill>
          </p:spPr>
        </p:sp>
        <p:sp>
          <p:nvSpPr>
            <p:cNvPr name="TextBox 7" id="7"/>
            <p:cNvSpPr txBox="true"/>
            <p:nvPr/>
          </p:nvSpPr>
          <p:spPr>
            <a:xfrm>
              <a:off x="0" y="-38100"/>
              <a:ext cx="4837707" cy="242796"/>
            </a:xfrm>
            <a:prstGeom prst="rect">
              <a:avLst/>
            </a:prstGeom>
          </p:spPr>
          <p:txBody>
            <a:bodyPr anchor="ctr" rtlCol="false" tIns="50800" lIns="50800" bIns="50800" rIns="50800"/>
            <a:lstStyle/>
            <a:p>
              <a:pPr algn="ctr">
                <a:lnSpc>
                  <a:spcPts val="3194"/>
                </a:lnSpc>
              </a:pPr>
            </a:p>
          </p:txBody>
        </p:sp>
      </p:grpSp>
      <p:grpSp>
        <p:nvGrpSpPr>
          <p:cNvPr name="Group 8" id="8"/>
          <p:cNvGrpSpPr/>
          <p:nvPr/>
        </p:nvGrpSpPr>
        <p:grpSpPr>
          <a:xfrm rot="0">
            <a:off x="1628965" y="417992"/>
            <a:ext cx="3881590" cy="783245"/>
            <a:chOff x="0" y="0"/>
            <a:chExt cx="5175454" cy="1044327"/>
          </a:xfrm>
        </p:grpSpPr>
        <p:sp>
          <p:nvSpPr>
            <p:cNvPr name="TextBox 9" id="9"/>
            <p:cNvSpPr txBox="true"/>
            <p:nvPr/>
          </p:nvSpPr>
          <p:spPr>
            <a:xfrm rot="0">
              <a:off x="0" y="474538"/>
              <a:ext cx="4606605" cy="569788"/>
            </a:xfrm>
            <a:prstGeom prst="rect">
              <a:avLst/>
            </a:prstGeom>
          </p:spPr>
          <p:txBody>
            <a:bodyPr anchor="t" rtlCol="false" tIns="0" lIns="0" bIns="0" rIns="0">
              <a:spAutoFit/>
            </a:bodyPr>
            <a:lstStyle/>
            <a:p>
              <a:pPr algn="l">
                <a:lnSpc>
                  <a:spcPts val="3614"/>
                </a:lnSpc>
              </a:pPr>
              <a:r>
                <a:rPr lang="en-US" sz="2581" b="true">
                  <a:solidFill>
                    <a:srgbClr val="000000"/>
                  </a:solidFill>
                  <a:latin typeface="Inter Bold"/>
                  <a:ea typeface="Inter Bold"/>
                  <a:cs typeface="Inter Bold"/>
                  <a:sym typeface="Inter Bold"/>
                </a:rPr>
                <a:t>Sppg Sindang Asih</a:t>
              </a:r>
            </a:p>
          </p:txBody>
        </p:sp>
        <p:sp>
          <p:nvSpPr>
            <p:cNvPr name="TextBox 10" id="10"/>
            <p:cNvSpPr txBox="true"/>
            <p:nvPr/>
          </p:nvSpPr>
          <p:spPr>
            <a:xfrm rot="0">
              <a:off x="0" y="-47625"/>
              <a:ext cx="5175454" cy="569788"/>
            </a:xfrm>
            <a:prstGeom prst="rect">
              <a:avLst/>
            </a:prstGeom>
          </p:spPr>
          <p:txBody>
            <a:bodyPr anchor="t" rtlCol="false" tIns="0" lIns="0" bIns="0" rIns="0">
              <a:spAutoFit/>
            </a:bodyPr>
            <a:lstStyle/>
            <a:p>
              <a:pPr algn="l">
                <a:lnSpc>
                  <a:spcPts val="3614"/>
                </a:lnSpc>
              </a:pPr>
              <a:r>
                <a:rPr lang="en-US" sz="2581" b="true">
                  <a:solidFill>
                    <a:srgbClr val="000000"/>
                  </a:solidFill>
                  <a:latin typeface="Inter Bold"/>
                  <a:ea typeface="Inter Bold"/>
                  <a:cs typeface="Inter Bold"/>
                  <a:sym typeface="Inter Bold"/>
                </a:rPr>
                <a:t>Badan Gizi Nasional</a:t>
              </a:r>
            </a:p>
          </p:txBody>
        </p:sp>
      </p:grpSp>
      <p:sp>
        <p:nvSpPr>
          <p:cNvPr name="TextBox 11" id="11"/>
          <p:cNvSpPr txBox="true"/>
          <p:nvPr/>
        </p:nvSpPr>
        <p:spPr>
          <a:xfrm rot="0">
            <a:off x="6124273" y="838190"/>
            <a:ext cx="6088679" cy="905764"/>
          </a:xfrm>
          <a:prstGeom prst="rect">
            <a:avLst/>
          </a:prstGeom>
        </p:spPr>
        <p:txBody>
          <a:bodyPr anchor="t" rtlCol="false" tIns="0" lIns="0" bIns="0" rIns="0">
            <a:spAutoFit/>
          </a:bodyPr>
          <a:lstStyle/>
          <a:p>
            <a:pPr algn="ctr">
              <a:lnSpc>
                <a:spcPts val="7061"/>
              </a:lnSpc>
            </a:pPr>
            <a:r>
              <a:rPr lang="en-US" sz="6140">
                <a:solidFill>
                  <a:srgbClr val="000000"/>
                </a:solidFill>
                <a:latin typeface="Rye"/>
                <a:ea typeface="Rye"/>
                <a:cs typeface="Rye"/>
                <a:sym typeface="Rye"/>
              </a:rPr>
              <a:t>Pengolahan</a:t>
            </a:r>
          </a:p>
        </p:txBody>
      </p:sp>
      <p:sp>
        <p:nvSpPr>
          <p:cNvPr name="TextBox 12" id="12"/>
          <p:cNvSpPr txBox="true"/>
          <p:nvPr/>
        </p:nvSpPr>
        <p:spPr>
          <a:xfrm rot="0">
            <a:off x="573223" y="1763004"/>
            <a:ext cx="17714777" cy="8243872"/>
          </a:xfrm>
          <a:prstGeom prst="rect">
            <a:avLst/>
          </a:prstGeom>
        </p:spPr>
        <p:txBody>
          <a:bodyPr anchor="t" rtlCol="false" tIns="0" lIns="0" bIns="0" rIns="0">
            <a:spAutoFit/>
          </a:bodyPr>
          <a:lstStyle/>
          <a:p>
            <a:pPr algn="just">
              <a:lnSpc>
                <a:spcPts val="3673"/>
              </a:lnSpc>
            </a:pPr>
            <a:r>
              <a:rPr lang="en-US" sz="3279" b="true">
                <a:solidFill>
                  <a:srgbClr val="000000"/>
                </a:solidFill>
                <a:latin typeface="Inter Bold"/>
                <a:ea typeface="Inter Bold"/>
                <a:cs typeface="Inter Bold"/>
                <a:sym typeface="Inter Bold"/>
              </a:rPr>
              <a:t>Berikut tugas dan tanggung jawab Divisi pengolahan </a:t>
            </a:r>
            <a:r>
              <a:rPr lang="en-US" sz="3279" b="true">
                <a:solidFill>
                  <a:srgbClr val="000000"/>
                </a:solidFill>
                <a:latin typeface="Inter Bold"/>
                <a:ea typeface="Inter Bold"/>
                <a:cs typeface="Inter Bold"/>
                <a:sym typeface="Inter Bold"/>
              </a:rPr>
              <a:t>Di Satuan Pelayanan</a:t>
            </a:r>
          </a:p>
          <a:p>
            <a:pPr algn="just">
              <a:lnSpc>
                <a:spcPts val="3673"/>
              </a:lnSpc>
            </a:pPr>
            <a:r>
              <a:rPr lang="en-US" sz="3279" b="true">
                <a:solidFill>
                  <a:srgbClr val="000000"/>
                </a:solidFill>
                <a:latin typeface="Inter Bold"/>
                <a:ea typeface="Inter Bold"/>
                <a:cs typeface="Inter Bold"/>
                <a:sym typeface="Inter Bold"/>
              </a:rPr>
              <a:t>program pemenuhan Gizi yaitu :</a:t>
            </a:r>
          </a:p>
          <a:p>
            <a:pPr algn="just">
              <a:lnSpc>
                <a:spcPts val="3673"/>
              </a:lnSpc>
            </a:pPr>
            <a:r>
              <a:rPr lang="en-US" sz="3279" b="true">
                <a:solidFill>
                  <a:srgbClr val="000000"/>
                </a:solidFill>
                <a:latin typeface="Inter Bold"/>
                <a:ea typeface="Inter Bold"/>
                <a:cs typeface="Inter Bold"/>
                <a:sym typeface="Inter Bold"/>
              </a:rPr>
              <a:t>a) Produksi Nasi </a:t>
            </a:r>
          </a:p>
          <a:p>
            <a:pPr algn="just">
              <a:lnSpc>
                <a:spcPts val="3673"/>
              </a:lnSpc>
            </a:pPr>
            <a:r>
              <a:rPr lang="en-US" sz="3279" b="true">
                <a:solidFill>
                  <a:srgbClr val="000000"/>
                </a:solidFill>
                <a:latin typeface="Inter Bold"/>
                <a:ea typeface="Inter Bold"/>
                <a:cs typeface="Inter Bold"/>
                <a:sym typeface="Inter Bold"/>
              </a:rPr>
              <a:t>1) Memastikan ketersediaan nasi. </a:t>
            </a:r>
          </a:p>
          <a:p>
            <a:pPr algn="just">
              <a:lnSpc>
                <a:spcPts val="3673"/>
              </a:lnSpc>
            </a:pPr>
            <a:r>
              <a:rPr lang="en-US" sz="3279" b="true">
                <a:solidFill>
                  <a:srgbClr val="000000"/>
                </a:solidFill>
                <a:latin typeface="Inter Bold"/>
                <a:ea typeface="Inter Bold"/>
                <a:cs typeface="Inter Bold"/>
                <a:sym typeface="Inter Bold"/>
              </a:rPr>
              <a:t>2) Menghitung dan mencatat satu kali produksi nasi menjadi berapa porsi. </a:t>
            </a:r>
          </a:p>
          <a:p>
            <a:pPr algn="just">
              <a:lnSpc>
                <a:spcPts val="3673"/>
              </a:lnSpc>
            </a:pPr>
            <a:r>
              <a:rPr lang="en-US" sz="3279" b="true">
                <a:solidFill>
                  <a:srgbClr val="000000"/>
                </a:solidFill>
                <a:latin typeface="Inter Bold"/>
                <a:ea typeface="Inter Bold"/>
                <a:cs typeface="Inter Bold"/>
                <a:sym typeface="Inter Bold"/>
              </a:rPr>
              <a:t>3) Memastikan beras yang dimasak sudah dicuci dan higienis. </a:t>
            </a:r>
          </a:p>
          <a:p>
            <a:pPr algn="just">
              <a:lnSpc>
                <a:spcPts val="3673"/>
              </a:lnSpc>
            </a:pPr>
            <a:r>
              <a:rPr lang="en-US" sz="3279" b="true">
                <a:solidFill>
                  <a:srgbClr val="000000"/>
                </a:solidFill>
                <a:latin typeface="Inter Bold"/>
                <a:ea typeface="Inter Bold"/>
                <a:cs typeface="Inter Bold"/>
                <a:sym typeface="Inter Bold"/>
              </a:rPr>
              <a:t>4) Memastikan ketersediaan stok beras. </a:t>
            </a:r>
          </a:p>
          <a:p>
            <a:pPr algn="just">
              <a:lnSpc>
                <a:spcPts val="3673"/>
              </a:lnSpc>
            </a:pPr>
            <a:r>
              <a:rPr lang="en-US" sz="3279" b="true">
                <a:solidFill>
                  <a:srgbClr val="000000"/>
                </a:solidFill>
                <a:latin typeface="Inter Bold"/>
                <a:ea typeface="Inter Bold"/>
                <a:cs typeface="Inter Bold"/>
                <a:sym typeface="Inter Bold"/>
              </a:rPr>
              <a:t>5) Membersihkan alat produksi nasi dan lingkungan pekerjaan sebelum ditinggalkan. </a:t>
            </a:r>
          </a:p>
          <a:p>
            <a:pPr algn="just">
              <a:lnSpc>
                <a:spcPts val="3673"/>
              </a:lnSpc>
            </a:pPr>
            <a:r>
              <a:rPr lang="en-US" sz="3279" b="true">
                <a:solidFill>
                  <a:srgbClr val="000000"/>
                </a:solidFill>
                <a:latin typeface="Inter Bold"/>
                <a:ea typeface="Inter Bold"/>
                <a:cs typeface="Inter Bold"/>
                <a:sym typeface="Inter Bold"/>
              </a:rPr>
              <a:t>b) Produksi Sayur </a:t>
            </a:r>
          </a:p>
          <a:p>
            <a:pPr algn="just">
              <a:lnSpc>
                <a:spcPts val="3673"/>
              </a:lnSpc>
            </a:pPr>
            <a:r>
              <a:rPr lang="en-US" sz="3279" b="true">
                <a:solidFill>
                  <a:srgbClr val="000000"/>
                </a:solidFill>
                <a:latin typeface="Inter Bold"/>
                <a:ea typeface="Inter Bold"/>
                <a:cs typeface="Inter Bold"/>
                <a:sym typeface="Inter Bold"/>
              </a:rPr>
              <a:t>1) Memastikan ketersediaan bahan baku rempah rempah dan sayuran. </a:t>
            </a:r>
          </a:p>
          <a:p>
            <a:pPr algn="just">
              <a:lnSpc>
                <a:spcPts val="3673"/>
              </a:lnSpc>
            </a:pPr>
            <a:r>
              <a:rPr lang="en-US" sz="3279" b="true">
                <a:solidFill>
                  <a:srgbClr val="000000"/>
                </a:solidFill>
                <a:latin typeface="Inter Bold"/>
                <a:ea typeface="Inter Bold"/>
                <a:cs typeface="Inter Bold"/>
                <a:sym typeface="Inter Bold"/>
              </a:rPr>
              <a:t>2) Memastikan ketersediaan sayur ketika proses pemorsian. </a:t>
            </a:r>
          </a:p>
          <a:p>
            <a:pPr algn="just">
              <a:lnSpc>
                <a:spcPts val="3673"/>
              </a:lnSpc>
            </a:pPr>
            <a:r>
              <a:rPr lang="en-US" sz="3279" b="true">
                <a:solidFill>
                  <a:srgbClr val="000000"/>
                </a:solidFill>
                <a:latin typeface="Inter Bold"/>
                <a:ea typeface="Inter Bold"/>
                <a:cs typeface="Inter Bold"/>
                <a:sym typeface="Inter Bold"/>
              </a:rPr>
              <a:t>3) Mencatat dan menghitung kesanggupan produksi satu wajan. </a:t>
            </a:r>
          </a:p>
          <a:p>
            <a:pPr algn="just">
              <a:lnSpc>
                <a:spcPts val="3673"/>
              </a:lnSpc>
            </a:pPr>
            <a:r>
              <a:rPr lang="en-US" sz="3279" b="true">
                <a:solidFill>
                  <a:srgbClr val="000000"/>
                </a:solidFill>
                <a:latin typeface="Inter Bold"/>
                <a:ea typeface="Inter Bold"/>
                <a:cs typeface="Inter Bold"/>
                <a:sym typeface="Inter Bold"/>
              </a:rPr>
              <a:t>4) Mencatat dan menghitung setiap bumbu yang digunakan seperti minyak, garam, gula,dan sejenisnya. </a:t>
            </a:r>
          </a:p>
          <a:p>
            <a:pPr algn="just">
              <a:lnSpc>
                <a:spcPts val="3673"/>
              </a:lnSpc>
            </a:pPr>
            <a:r>
              <a:rPr lang="en-US" sz="3279" b="true">
                <a:solidFill>
                  <a:srgbClr val="000000"/>
                </a:solidFill>
                <a:latin typeface="Inter Bold"/>
                <a:ea typeface="Inter Bold"/>
                <a:cs typeface="Inter Bold"/>
                <a:sym typeface="Inter Bold"/>
              </a:rPr>
              <a:t>5) Membersihkan alat produksi sayuran dan lingkungan pekerjaan  sebelum ditinggalkan. </a:t>
            </a:r>
          </a:p>
          <a:p>
            <a:pPr algn="just">
              <a:lnSpc>
                <a:spcPts val="3673"/>
              </a:lnSpc>
            </a:pPr>
          </a:p>
          <a:p>
            <a:pPr algn="just">
              <a:lnSpc>
                <a:spcPts val="3673"/>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true" flipV="false" rot="0">
            <a:off x="0" y="6318746"/>
            <a:ext cx="6124273" cy="4281887"/>
          </a:xfrm>
          <a:custGeom>
            <a:avLst/>
            <a:gdLst/>
            <a:ahLst/>
            <a:cxnLst/>
            <a:rect r="r" b="b" t="t" l="l"/>
            <a:pathLst>
              <a:path h="4281887" w="6124273">
                <a:moveTo>
                  <a:pt x="6124273" y="0"/>
                </a:moveTo>
                <a:lnTo>
                  <a:pt x="0" y="0"/>
                </a:lnTo>
                <a:lnTo>
                  <a:pt x="0" y="4281887"/>
                </a:lnTo>
                <a:lnTo>
                  <a:pt x="6124273" y="4281887"/>
                </a:lnTo>
                <a:lnTo>
                  <a:pt x="6124273"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9934" y="0"/>
            <a:ext cx="4532959" cy="4245872"/>
          </a:xfrm>
          <a:custGeom>
            <a:avLst/>
            <a:gdLst/>
            <a:ahLst/>
            <a:cxnLst/>
            <a:rect r="r" b="b" t="t" l="l"/>
            <a:pathLst>
              <a:path h="4245872" w="4532959">
                <a:moveTo>
                  <a:pt x="0" y="0"/>
                </a:moveTo>
                <a:lnTo>
                  <a:pt x="4532959" y="0"/>
                </a:lnTo>
                <a:lnTo>
                  <a:pt x="4532959" y="4245872"/>
                </a:lnTo>
                <a:lnTo>
                  <a:pt x="0" y="42458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77836" y="0"/>
            <a:ext cx="1885101" cy="1619230"/>
          </a:xfrm>
          <a:custGeom>
            <a:avLst/>
            <a:gdLst/>
            <a:ahLst/>
            <a:cxnLst/>
            <a:rect r="r" b="b" t="t" l="l"/>
            <a:pathLst>
              <a:path h="1619230" w="1885101">
                <a:moveTo>
                  <a:pt x="0" y="0"/>
                </a:moveTo>
                <a:lnTo>
                  <a:pt x="1885101" y="0"/>
                </a:lnTo>
                <a:lnTo>
                  <a:pt x="1885101" y="1619230"/>
                </a:lnTo>
                <a:lnTo>
                  <a:pt x="0" y="1619230"/>
                </a:lnTo>
                <a:lnTo>
                  <a:pt x="0" y="0"/>
                </a:lnTo>
                <a:close/>
              </a:path>
            </a:pathLst>
          </a:custGeom>
          <a:blipFill>
            <a:blip r:embed="rId6"/>
            <a:stretch>
              <a:fillRect l="0" t="-29178" r="0" b="-5350"/>
            </a:stretch>
          </a:blipFill>
        </p:spPr>
      </p:sp>
      <p:grpSp>
        <p:nvGrpSpPr>
          <p:cNvPr name="Group 5" id="5"/>
          <p:cNvGrpSpPr/>
          <p:nvPr/>
        </p:nvGrpSpPr>
        <p:grpSpPr>
          <a:xfrm rot="0">
            <a:off x="-80169" y="9509796"/>
            <a:ext cx="18368169" cy="777204"/>
            <a:chOff x="0" y="0"/>
            <a:chExt cx="4837707" cy="204696"/>
          </a:xfrm>
        </p:grpSpPr>
        <p:sp>
          <p:nvSpPr>
            <p:cNvPr name="Freeform 6" id="6"/>
            <p:cNvSpPr/>
            <p:nvPr/>
          </p:nvSpPr>
          <p:spPr>
            <a:xfrm flipH="false" flipV="false" rot="0">
              <a:off x="0" y="0"/>
              <a:ext cx="4837707" cy="204696"/>
            </a:xfrm>
            <a:custGeom>
              <a:avLst/>
              <a:gdLst/>
              <a:ahLst/>
              <a:cxnLst/>
              <a:rect r="r" b="b" t="t" l="l"/>
              <a:pathLst>
                <a:path h="204696" w="4837707">
                  <a:moveTo>
                    <a:pt x="0" y="0"/>
                  </a:moveTo>
                  <a:lnTo>
                    <a:pt x="4837707" y="0"/>
                  </a:lnTo>
                  <a:lnTo>
                    <a:pt x="4837707" y="204696"/>
                  </a:lnTo>
                  <a:lnTo>
                    <a:pt x="0" y="204696"/>
                  </a:lnTo>
                  <a:close/>
                </a:path>
              </a:pathLst>
            </a:custGeom>
            <a:solidFill>
              <a:srgbClr val="00004D"/>
            </a:solidFill>
          </p:spPr>
        </p:sp>
        <p:sp>
          <p:nvSpPr>
            <p:cNvPr name="TextBox 7" id="7"/>
            <p:cNvSpPr txBox="true"/>
            <p:nvPr/>
          </p:nvSpPr>
          <p:spPr>
            <a:xfrm>
              <a:off x="0" y="-38100"/>
              <a:ext cx="4837707" cy="242796"/>
            </a:xfrm>
            <a:prstGeom prst="rect">
              <a:avLst/>
            </a:prstGeom>
          </p:spPr>
          <p:txBody>
            <a:bodyPr anchor="ctr" rtlCol="false" tIns="50800" lIns="50800" bIns="50800" rIns="50800"/>
            <a:lstStyle/>
            <a:p>
              <a:pPr algn="ctr">
                <a:lnSpc>
                  <a:spcPts val="3194"/>
                </a:lnSpc>
              </a:pPr>
            </a:p>
          </p:txBody>
        </p:sp>
      </p:grpSp>
      <p:grpSp>
        <p:nvGrpSpPr>
          <p:cNvPr name="Group 8" id="8"/>
          <p:cNvGrpSpPr/>
          <p:nvPr/>
        </p:nvGrpSpPr>
        <p:grpSpPr>
          <a:xfrm rot="0">
            <a:off x="1628965" y="417992"/>
            <a:ext cx="3881590" cy="783245"/>
            <a:chOff x="0" y="0"/>
            <a:chExt cx="5175454" cy="1044327"/>
          </a:xfrm>
        </p:grpSpPr>
        <p:sp>
          <p:nvSpPr>
            <p:cNvPr name="TextBox 9" id="9"/>
            <p:cNvSpPr txBox="true"/>
            <p:nvPr/>
          </p:nvSpPr>
          <p:spPr>
            <a:xfrm rot="0">
              <a:off x="0" y="474538"/>
              <a:ext cx="4606605" cy="569788"/>
            </a:xfrm>
            <a:prstGeom prst="rect">
              <a:avLst/>
            </a:prstGeom>
          </p:spPr>
          <p:txBody>
            <a:bodyPr anchor="t" rtlCol="false" tIns="0" lIns="0" bIns="0" rIns="0">
              <a:spAutoFit/>
            </a:bodyPr>
            <a:lstStyle/>
            <a:p>
              <a:pPr algn="l">
                <a:lnSpc>
                  <a:spcPts val="3614"/>
                </a:lnSpc>
              </a:pPr>
              <a:r>
                <a:rPr lang="en-US" sz="2581" b="true">
                  <a:solidFill>
                    <a:srgbClr val="000000"/>
                  </a:solidFill>
                  <a:latin typeface="Inter Bold"/>
                  <a:ea typeface="Inter Bold"/>
                  <a:cs typeface="Inter Bold"/>
                  <a:sym typeface="Inter Bold"/>
                </a:rPr>
                <a:t>Sppg Sindang Asih</a:t>
              </a:r>
            </a:p>
          </p:txBody>
        </p:sp>
        <p:sp>
          <p:nvSpPr>
            <p:cNvPr name="TextBox 10" id="10"/>
            <p:cNvSpPr txBox="true"/>
            <p:nvPr/>
          </p:nvSpPr>
          <p:spPr>
            <a:xfrm rot="0">
              <a:off x="0" y="-47625"/>
              <a:ext cx="5175454" cy="569788"/>
            </a:xfrm>
            <a:prstGeom prst="rect">
              <a:avLst/>
            </a:prstGeom>
          </p:spPr>
          <p:txBody>
            <a:bodyPr anchor="t" rtlCol="false" tIns="0" lIns="0" bIns="0" rIns="0">
              <a:spAutoFit/>
            </a:bodyPr>
            <a:lstStyle/>
            <a:p>
              <a:pPr algn="l">
                <a:lnSpc>
                  <a:spcPts val="3614"/>
                </a:lnSpc>
              </a:pPr>
              <a:r>
                <a:rPr lang="en-US" sz="2581" b="true">
                  <a:solidFill>
                    <a:srgbClr val="000000"/>
                  </a:solidFill>
                  <a:latin typeface="Inter Bold"/>
                  <a:ea typeface="Inter Bold"/>
                  <a:cs typeface="Inter Bold"/>
                  <a:sym typeface="Inter Bold"/>
                </a:rPr>
                <a:t>Badan Gizi Nasional</a:t>
              </a:r>
            </a:p>
          </p:txBody>
        </p:sp>
      </p:grpSp>
      <p:sp>
        <p:nvSpPr>
          <p:cNvPr name="TextBox 11" id="11"/>
          <p:cNvSpPr txBox="true"/>
          <p:nvPr/>
        </p:nvSpPr>
        <p:spPr>
          <a:xfrm rot="0">
            <a:off x="6124273" y="838190"/>
            <a:ext cx="6088679" cy="905764"/>
          </a:xfrm>
          <a:prstGeom prst="rect">
            <a:avLst/>
          </a:prstGeom>
        </p:spPr>
        <p:txBody>
          <a:bodyPr anchor="t" rtlCol="false" tIns="0" lIns="0" bIns="0" rIns="0">
            <a:spAutoFit/>
          </a:bodyPr>
          <a:lstStyle/>
          <a:p>
            <a:pPr algn="ctr">
              <a:lnSpc>
                <a:spcPts val="7061"/>
              </a:lnSpc>
            </a:pPr>
            <a:r>
              <a:rPr lang="en-US" sz="6140">
                <a:solidFill>
                  <a:srgbClr val="000000"/>
                </a:solidFill>
                <a:latin typeface="Rye"/>
                <a:ea typeface="Rye"/>
                <a:cs typeface="Rye"/>
                <a:sym typeface="Rye"/>
              </a:rPr>
              <a:t>Pengolahan</a:t>
            </a:r>
          </a:p>
        </p:txBody>
      </p:sp>
      <p:sp>
        <p:nvSpPr>
          <p:cNvPr name="TextBox 12" id="12"/>
          <p:cNvSpPr txBox="true"/>
          <p:nvPr/>
        </p:nvSpPr>
        <p:spPr>
          <a:xfrm rot="0">
            <a:off x="311224" y="2239748"/>
            <a:ext cx="17714777" cy="5836079"/>
          </a:xfrm>
          <a:prstGeom prst="rect">
            <a:avLst/>
          </a:prstGeom>
        </p:spPr>
        <p:txBody>
          <a:bodyPr anchor="t" rtlCol="false" tIns="0" lIns="0" bIns="0" rIns="0">
            <a:spAutoFit/>
          </a:bodyPr>
          <a:lstStyle/>
          <a:p>
            <a:pPr algn="just">
              <a:lnSpc>
                <a:spcPts val="3897"/>
              </a:lnSpc>
            </a:pPr>
            <a:r>
              <a:rPr lang="en-US" sz="3479" b="true">
                <a:solidFill>
                  <a:srgbClr val="000000"/>
                </a:solidFill>
                <a:latin typeface="Inter Bold"/>
                <a:ea typeface="Inter Bold"/>
                <a:cs typeface="Inter Bold"/>
                <a:sym typeface="Inter Bold"/>
              </a:rPr>
              <a:t>c) Produksi Lauk</a:t>
            </a:r>
            <a:r>
              <a:rPr lang="en-US" sz="3479" b="true">
                <a:solidFill>
                  <a:srgbClr val="000000"/>
                </a:solidFill>
                <a:latin typeface="Inter Bold"/>
                <a:ea typeface="Inter Bold"/>
                <a:cs typeface="Inter Bold"/>
                <a:sym typeface="Inter Bold"/>
              </a:rPr>
              <a:t> </a:t>
            </a:r>
          </a:p>
          <a:p>
            <a:pPr algn="just">
              <a:lnSpc>
                <a:spcPts val="3897"/>
              </a:lnSpc>
            </a:pPr>
            <a:r>
              <a:rPr lang="en-US" sz="3479" b="true">
                <a:solidFill>
                  <a:srgbClr val="000000"/>
                </a:solidFill>
                <a:latin typeface="Inter Bold"/>
                <a:ea typeface="Inter Bold"/>
                <a:cs typeface="Inter Bold"/>
                <a:sym typeface="Inter Bold"/>
              </a:rPr>
              <a:t>1)Memastikan ketersediaan bahan baku rempah Rempah dan lauk. </a:t>
            </a:r>
          </a:p>
          <a:p>
            <a:pPr algn="just">
              <a:lnSpc>
                <a:spcPts val="3897"/>
              </a:lnSpc>
            </a:pPr>
            <a:r>
              <a:rPr lang="en-US" sz="3479" b="true">
                <a:solidFill>
                  <a:srgbClr val="000000"/>
                </a:solidFill>
                <a:latin typeface="Inter Bold"/>
                <a:ea typeface="Inter Bold"/>
                <a:cs typeface="Inter Bold"/>
                <a:sym typeface="Inter Bold"/>
              </a:rPr>
              <a:t>2)Memastikan ketersediaan lauk ketika proses pemorsian. </a:t>
            </a:r>
          </a:p>
          <a:p>
            <a:pPr algn="just">
              <a:lnSpc>
                <a:spcPts val="3897"/>
              </a:lnSpc>
            </a:pPr>
            <a:r>
              <a:rPr lang="en-US" sz="3479" b="true">
                <a:solidFill>
                  <a:srgbClr val="000000"/>
                </a:solidFill>
                <a:latin typeface="Inter Bold"/>
                <a:ea typeface="Inter Bold"/>
                <a:cs typeface="Inter Bold"/>
                <a:sym typeface="Inter Bold"/>
              </a:rPr>
              <a:t>3)Mencatat dan menghitung kesanggupan produksi satu wajan. </a:t>
            </a:r>
          </a:p>
          <a:p>
            <a:pPr algn="just">
              <a:lnSpc>
                <a:spcPts val="3897"/>
              </a:lnSpc>
            </a:pPr>
            <a:r>
              <a:rPr lang="en-US" sz="3479" b="true">
                <a:solidFill>
                  <a:srgbClr val="000000"/>
                </a:solidFill>
                <a:latin typeface="Inter Bold"/>
                <a:ea typeface="Inter Bold"/>
                <a:cs typeface="Inter Bold"/>
                <a:sym typeface="Inter Bold"/>
              </a:rPr>
              <a:t>4)Mencatat dan menghitung setiap bumbu yang </a:t>
            </a:r>
          </a:p>
          <a:p>
            <a:pPr algn="just">
              <a:lnSpc>
                <a:spcPts val="3897"/>
              </a:lnSpc>
            </a:pPr>
            <a:r>
              <a:rPr lang="en-US" sz="3479" b="true">
                <a:solidFill>
                  <a:srgbClr val="000000"/>
                </a:solidFill>
                <a:latin typeface="Inter Bold"/>
                <a:ea typeface="Inter Bold"/>
                <a:cs typeface="Inter Bold"/>
                <a:sym typeface="Inter Bold"/>
              </a:rPr>
              <a:t>digunakan (minyak, garam, gula, dll). </a:t>
            </a:r>
          </a:p>
          <a:p>
            <a:pPr algn="just">
              <a:lnSpc>
                <a:spcPts val="3897"/>
              </a:lnSpc>
            </a:pPr>
            <a:r>
              <a:rPr lang="en-US" sz="3479" b="true">
                <a:solidFill>
                  <a:srgbClr val="000000"/>
                </a:solidFill>
                <a:latin typeface="Inter Bold"/>
                <a:ea typeface="Inter Bold"/>
                <a:cs typeface="Inter Bold"/>
                <a:sym typeface="Inter Bold"/>
              </a:rPr>
              <a:t>5)Melakukan pengecekan dan penghitungan terhadap bahan baku lauk (ayam, ikan, daging, telur) yang dikirim oleh pemasok. </a:t>
            </a:r>
          </a:p>
          <a:p>
            <a:pPr algn="just">
              <a:lnSpc>
                <a:spcPts val="3897"/>
              </a:lnSpc>
            </a:pPr>
            <a:r>
              <a:rPr lang="en-US" sz="3479" b="true">
                <a:solidFill>
                  <a:srgbClr val="000000"/>
                </a:solidFill>
                <a:latin typeface="Inter Bold"/>
                <a:ea typeface="Inter Bold"/>
                <a:cs typeface="Inter Bold"/>
                <a:sym typeface="Inter Bold"/>
              </a:rPr>
              <a:t>6)Membersihkan alat produksi lauk dan lingkunganpekerjaan sebelum ditinggalkan. </a:t>
            </a:r>
          </a:p>
          <a:p>
            <a:pPr algn="just">
              <a:lnSpc>
                <a:spcPts val="3897"/>
              </a:lnSpc>
            </a:pPr>
          </a:p>
          <a:p>
            <a:pPr algn="just">
              <a:lnSpc>
                <a:spcPts val="3897"/>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true" flipV="false" rot="0">
            <a:off x="0" y="6318746"/>
            <a:ext cx="6124273" cy="4281887"/>
          </a:xfrm>
          <a:custGeom>
            <a:avLst/>
            <a:gdLst/>
            <a:ahLst/>
            <a:cxnLst/>
            <a:rect r="r" b="b" t="t" l="l"/>
            <a:pathLst>
              <a:path h="4281887" w="6124273">
                <a:moveTo>
                  <a:pt x="6124273" y="0"/>
                </a:moveTo>
                <a:lnTo>
                  <a:pt x="0" y="0"/>
                </a:lnTo>
                <a:lnTo>
                  <a:pt x="0" y="4281887"/>
                </a:lnTo>
                <a:lnTo>
                  <a:pt x="6124273" y="4281887"/>
                </a:lnTo>
                <a:lnTo>
                  <a:pt x="6124273"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9934" y="0"/>
            <a:ext cx="4532959" cy="4245872"/>
          </a:xfrm>
          <a:custGeom>
            <a:avLst/>
            <a:gdLst/>
            <a:ahLst/>
            <a:cxnLst/>
            <a:rect r="r" b="b" t="t" l="l"/>
            <a:pathLst>
              <a:path h="4245872" w="4532959">
                <a:moveTo>
                  <a:pt x="0" y="0"/>
                </a:moveTo>
                <a:lnTo>
                  <a:pt x="4532959" y="0"/>
                </a:lnTo>
                <a:lnTo>
                  <a:pt x="4532959" y="4245872"/>
                </a:lnTo>
                <a:lnTo>
                  <a:pt x="0" y="42458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77836" y="0"/>
            <a:ext cx="1885101" cy="1619230"/>
          </a:xfrm>
          <a:custGeom>
            <a:avLst/>
            <a:gdLst/>
            <a:ahLst/>
            <a:cxnLst/>
            <a:rect r="r" b="b" t="t" l="l"/>
            <a:pathLst>
              <a:path h="1619230" w="1885101">
                <a:moveTo>
                  <a:pt x="0" y="0"/>
                </a:moveTo>
                <a:lnTo>
                  <a:pt x="1885101" y="0"/>
                </a:lnTo>
                <a:lnTo>
                  <a:pt x="1885101" y="1619230"/>
                </a:lnTo>
                <a:lnTo>
                  <a:pt x="0" y="1619230"/>
                </a:lnTo>
                <a:lnTo>
                  <a:pt x="0" y="0"/>
                </a:lnTo>
                <a:close/>
              </a:path>
            </a:pathLst>
          </a:custGeom>
          <a:blipFill>
            <a:blip r:embed="rId6"/>
            <a:stretch>
              <a:fillRect l="0" t="-29178" r="0" b="-5350"/>
            </a:stretch>
          </a:blipFill>
        </p:spPr>
      </p:sp>
      <p:grpSp>
        <p:nvGrpSpPr>
          <p:cNvPr name="Group 5" id="5"/>
          <p:cNvGrpSpPr/>
          <p:nvPr/>
        </p:nvGrpSpPr>
        <p:grpSpPr>
          <a:xfrm rot="0">
            <a:off x="-80169" y="9509796"/>
            <a:ext cx="18368169" cy="777204"/>
            <a:chOff x="0" y="0"/>
            <a:chExt cx="4837707" cy="204696"/>
          </a:xfrm>
        </p:grpSpPr>
        <p:sp>
          <p:nvSpPr>
            <p:cNvPr name="Freeform 6" id="6"/>
            <p:cNvSpPr/>
            <p:nvPr/>
          </p:nvSpPr>
          <p:spPr>
            <a:xfrm flipH="false" flipV="false" rot="0">
              <a:off x="0" y="0"/>
              <a:ext cx="4837707" cy="204696"/>
            </a:xfrm>
            <a:custGeom>
              <a:avLst/>
              <a:gdLst/>
              <a:ahLst/>
              <a:cxnLst/>
              <a:rect r="r" b="b" t="t" l="l"/>
              <a:pathLst>
                <a:path h="204696" w="4837707">
                  <a:moveTo>
                    <a:pt x="0" y="0"/>
                  </a:moveTo>
                  <a:lnTo>
                    <a:pt x="4837707" y="0"/>
                  </a:lnTo>
                  <a:lnTo>
                    <a:pt x="4837707" y="204696"/>
                  </a:lnTo>
                  <a:lnTo>
                    <a:pt x="0" y="204696"/>
                  </a:lnTo>
                  <a:close/>
                </a:path>
              </a:pathLst>
            </a:custGeom>
            <a:solidFill>
              <a:srgbClr val="00004D"/>
            </a:solidFill>
          </p:spPr>
        </p:sp>
        <p:sp>
          <p:nvSpPr>
            <p:cNvPr name="TextBox 7" id="7"/>
            <p:cNvSpPr txBox="true"/>
            <p:nvPr/>
          </p:nvSpPr>
          <p:spPr>
            <a:xfrm>
              <a:off x="0" y="-38100"/>
              <a:ext cx="4837707" cy="242796"/>
            </a:xfrm>
            <a:prstGeom prst="rect">
              <a:avLst/>
            </a:prstGeom>
          </p:spPr>
          <p:txBody>
            <a:bodyPr anchor="ctr" rtlCol="false" tIns="50800" lIns="50800" bIns="50800" rIns="50800"/>
            <a:lstStyle/>
            <a:p>
              <a:pPr algn="ctr">
                <a:lnSpc>
                  <a:spcPts val="3194"/>
                </a:lnSpc>
              </a:pPr>
            </a:p>
          </p:txBody>
        </p:sp>
      </p:grpSp>
      <p:grpSp>
        <p:nvGrpSpPr>
          <p:cNvPr name="Group 8" id="8"/>
          <p:cNvGrpSpPr/>
          <p:nvPr/>
        </p:nvGrpSpPr>
        <p:grpSpPr>
          <a:xfrm rot="0">
            <a:off x="1628965" y="417992"/>
            <a:ext cx="3881590" cy="783245"/>
            <a:chOff x="0" y="0"/>
            <a:chExt cx="5175454" cy="1044327"/>
          </a:xfrm>
        </p:grpSpPr>
        <p:sp>
          <p:nvSpPr>
            <p:cNvPr name="TextBox 9" id="9"/>
            <p:cNvSpPr txBox="true"/>
            <p:nvPr/>
          </p:nvSpPr>
          <p:spPr>
            <a:xfrm rot="0">
              <a:off x="0" y="474538"/>
              <a:ext cx="4606605" cy="569788"/>
            </a:xfrm>
            <a:prstGeom prst="rect">
              <a:avLst/>
            </a:prstGeom>
          </p:spPr>
          <p:txBody>
            <a:bodyPr anchor="t" rtlCol="false" tIns="0" lIns="0" bIns="0" rIns="0">
              <a:spAutoFit/>
            </a:bodyPr>
            <a:lstStyle/>
            <a:p>
              <a:pPr algn="l">
                <a:lnSpc>
                  <a:spcPts val="3614"/>
                </a:lnSpc>
              </a:pPr>
              <a:r>
                <a:rPr lang="en-US" sz="2581" b="true">
                  <a:solidFill>
                    <a:srgbClr val="000000"/>
                  </a:solidFill>
                  <a:latin typeface="Inter Bold"/>
                  <a:ea typeface="Inter Bold"/>
                  <a:cs typeface="Inter Bold"/>
                  <a:sym typeface="Inter Bold"/>
                </a:rPr>
                <a:t>Sppg Sindang Asih</a:t>
              </a:r>
            </a:p>
          </p:txBody>
        </p:sp>
        <p:sp>
          <p:nvSpPr>
            <p:cNvPr name="TextBox 10" id="10"/>
            <p:cNvSpPr txBox="true"/>
            <p:nvPr/>
          </p:nvSpPr>
          <p:spPr>
            <a:xfrm rot="0">
              <a:off x="0" y="-47625"/>
              <a:ext cx="5175454" cy="569788"/>
            </a:xfrm>
            <a:prstGeom prst="rect">
              <a:avLst/>
            </a:prstGeom>
          </p:spPr>
          <p:txBody>
            <a:bodyPr anchor="t" rtlCol="false" tIns="0" lIns="0" bIns="0" rIns="0">
              <a:spAutoFit/>
            </a:bodyPr>
            <a:lstStyle/>
            <a:p>
              <a:pPr algn="l">
                <a:lnSpc>
                  <a:spcPts val="3614"/>
                </a:lnSpc>
              </a:pPr>
              <a:r>
                <a:rPr lang="en-US" sz="2581" b="true">
                  <a:solidFill>
                    <a:srgbClr val="000000"/>
                  </a:solidFill>
                  <a:latin typeface="Inter Bold"/>
                  <a:ea typeface="Inter Bold"/>
                  <a:cs typeface="Inter Bold"/>
                  <a:sym typeface="Inter Bold"/>
                </a:rPr>
                <a:t>Badan Gizi Nasional</a:t>
              </a:r>
            </a:p>
          </p:txBody>
        </p:sp>
      </p:grpSp>
      <p:sp>
        <p:nvSpPr>
          <p:cNvPr name="TextBox 11" id="11"/>
          <p:cNvSpPr txBox="true"/>
          <p:nvPr/>
        </p:nvSpPr>
        <p:spPr>
          <a:xfrm rot="0">
            <a:off x="6124273" y="838190"/>
            <a:ext cx="6088679" cy="905764"/>
          </a:xfrm>
          <a:prstGeom prst="rect">
            <a:avLst/>
          </a:prstGeom>
        </p:spPr>
        <p:txBody>
          <a:bodyPr anchor="t" rtlCol="false" tIns="0" lIns="0" bIns="0" rIns="0">
            <a:spAutoFit/>
          </a:bodyPr>
          <a:lstStyle/>
          <a:p>
            <a:pPr algn="ctr">
              <a:lnSpc>
                <a:spcPts val="7061"/>
              </a:lnSpc>
            </a:pPr>
            <a:r>
              <a:rPr lang="en-US" sz="6140">
                <a:solidFill>
                  <a:srgbClr val="000000"/>
                </a:solidFill>
                <a:latin typeface="Rye"/>
                <a:ea typeface="Rye"/>
                <a:cs typeface="Rye"/>
                <a:sym typeface="Rye"/>
              </a:rPr>
              <a:t>Pengolahan</a:t>
            </a:r>
          </a:p>
        </p:txBody>
      </p:sp>
      <p:sp>
        <p:nvSpPr>
          <p:cNvPr name="TextBox 12" id="12"/>
          <p:cNvSpPr txBox="true"/>
          <p:nvPr/>
        </p:nvSpPr>
        <p:spPr>
          <a:xfrm rot="0">
            <a:off x="311224" y="2001660"/>
            <a:ext cx="17714777" cy="5350304"/>
          </a:xfrm>
          <a:prstGeom prst="rect">
            <a:avLst/>
          </a:prstGeom>
        </p:spPr>
        <p:txBody>
          <a:bodyPr anchor="t" rtlCol="false" tIns="0" lIns="0" bIns="0" rIns="0">
            <a:spAutoFit/>
          </a:bodyPr>
          <a:lstStyle/>
          <a:p>
            <a:pPr algn="just">
              <a:lnSpc>
                <a:spcPts val="3897"/>
              </a:lnSpc>
            </a:pPr>
          </a:p>
          <a:p>
            <a:pPr algn="just">
              <a:lnSpc>
                <a:spcPts val="3897"/>
              </a:lnSpc>
            </a:pPr>
            <a:r>
              <a:rPr lang="en-US" sz="3479" b="true">
                <a:solidFill>
                  <a:srgbClr val="000000"/>
                </a:solidFill>
                <a:latin typeface="Inter Bold"/>
                <a:ea typeface="Inter Bold"/>
                <a:cs typeface="Inter Bold"/>
                <a:sym typeface="Inter Bold"/>
              </a:rPr>
              <a:t>7) SPPG dilarang membeli makanan basah dalam bentuk jadi (siap saji) dari pihak ketiga. Seluruh proses pengolahan makanan basah harus dilakukan di fasilitas SPPG untuk menjamin keamanan pangan dan standar gizi. </a:t>
            </a:r>
          </a:p>
          <a:p>
            <a:pPr algn="just">
              <a:lnSpc>
                <a:spcPts val="3897"/>
              </a:lnSpc>
            </a:pPr>
            <a:r>
              <a:rPr lang="en-US" sz="3479" b="true">
                <a:solidFill>
                  <a:srgbClr val="000000"/>
                </a:solidFill>
                <a:latin typeface="Inter Bold"/>
                <a:ea typeface="Inter Bold"/>
                <a:cs typeface="Inter Bold"/>
                <a:sym typeface="Inter Bold"/>
              </a:rPr>
              <a:t>8) Dalam hal penyediaan makanan kering (misalnya untuk kondisi khusus atau bulan puasa), diperbolehkan menggunakan produk hasil pihak ketiga, namun wajib memprioritaskan produk lokal/UMKM dan bukan berasal dari pabrikan besar. </a:t>
            </a:r>
          </a:p>
          <a:p>
            <a:pPr algn="just">
              <a:lnSpc>
                <a:spcPts val="3897"/>
              </a:lnSpc>
            </a:pPr>
            <a:r>
              <a:rPr lang="en-US" sz="3479" b="true">
                <a:solidFill>
                  <a:srgbClr val="000000"/>
                </a:solidFill>
                <a:latin typeface="Inter Bold"/>
                <a:ea typeface="Inter Bold"/>
                <a:cs typeface="Inter Bold"/>
                <a:sym typeface="Inter Bold"/>
              </a:rPr>
              <a:t>9) Sangat disarankan untuk melibatkan PKK dan organisasi kemasyarakatan setempat dalam proses operasional SPPG, dengan tetap menjaga </a:t>
            </a:r>
          </a:p>
          <a:p>
            <a:pPr algn="just">
              <a:lnSpc>
                <a:spcPts val="3897"/>
              </a:lnSpc>
            </a:pPr>
            <a:r>
              <a:rPr lang="en-US" sz="3479" b="true">
                <a:solidFill>
                  <a:srgbClr val="000000"/>
                </a:solidFill>
                <a:latin typeface="Inter Bold"/>
                <a:ea typeface="Inter Bold"/>
                <a:cs typeface="Inter Bold"/>
                <a:sym typeface="Inter Bold"/>
              </a:rPr>
              <a:t>standar gizi dan higiene yang mencukupi</a:t>
            </a:r>
          </a:p>
          <a:p>
            <a:pPr algn="just">
              <a:lnSpc>
                <a:spcPts val="3897"/>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true" flipV="false" rot="0">
            <a:off x="0" y="6623175"/>
            <a:ext cx="5688855" cy="3977458"/>
          </a:xfrm>
          <a:custGeom>
            <a:avLst/>
            <a:gdLst/>
            <a:ahLst/>
            <a:cxnLst/>
            <a:rect r="r" b="b" t="t" l="l"/>
            <a:pathLst>
              <a:path h="3977458" w="5688855">
                <a:moveTo>
                  <a:pt x="5688855" y="0"/>
                </a:moveTo>
                <a:lnTo>
                  <a:pt x="0" y="0"/>
                </a:lnTo>
                <a:lnTo>
                  <a:pt x="0" y="3977458"/>
                </a:lnTo>
                <a:lnTo>
                  <a:pt x="5688855" y="3977458"/>
                </a:lnTo>
                <a:lnTo>
                  <a:pt x="5688855" y="0"/>
                </a:lnTo>
                <a:close/>
              </a:path>
            </a:pathLst>
          </a:custGeom>
          <a:blipFill>
            <a:blip r:embed="rId2">
              <a:alphaModFix amt="49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1313" y="-467170"/>
            <a:ext cx="4532959" cy="4245872"/>
          </a:xfrm>
          <a:custGeom>
            <a:avLst/>
            <a:gdLst/>
            <a:ahLst/>
            <a:cxnLst/>
            <a:rect r="r" b="b" t="t" l="l"/>
            <a:pathLst>
              <a:path h="4245872" w="4532959">
                <a:moveTo>
                  <a:pt x="0" y="0"/>
                </a:moveTo>
                <a:lnTo>
                  <a:pt x="4532959" y="0"/>
                </a:lnTo>
                <a:lnTo>
                  <a:pt x="4532959" y="4245872"/>
                </a:lnTo>
                <a:lnTo>
                  <a:pt x="0" y="42458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39934" y="0"/>
            <a:ext cx="1885101" cy="1619230"/>
          </a:xfrm>
          <a:custGeom>
            <a:avLst/>
            <a:gdLst/>
            <a:ahLst/>
            <a:cxnLst/>
            <a:rect r="r" b="b" t="t" l="l"/>
            <a:pathLst>
              <a:path h="1619230" w="1885101">
                <a:moveTo>
                  <a:pt x="0" y="0"/>
                </a:moveTo>
                <a:lnTo>
                  <a:pt x="1885101" y="0"/>
                </a:lnTo>
                <a:lnTo>
                  <a:pt x="1885101" y="1619230"/>
                </a:lnTo>
                <a:lnTo>
                  <a:pt x="0" y="1619230"/>
                </a:lnTo>
                <a:lnTo>
                  <a:pt x="0" y="0"/>
                </a:lnTo>
                <a:close/>
              </a:path>
            </a:pathLst>
          </a:custGeom>
          <a:blipFill>
            <a:blip r:embed="rId6"/>
            <a:stretch>
              <a:fillRect l="0" t="-29178" r="0" b="-5350"/>
            </a:stretch>
          </a:blipFill>
        </p:spPr>
      </p:sp>
      <p:grpSp>
        <p:nvGrpSpPr>
          <p:cNvPr name="Group 5" id="5"/>
          <p:cNvGrpSpPr/>
          <p:nvPr/>
        </p:nvGrpSpPr>
        <p:grpSpPr>
          <a:xfrm rot="0">
            <a:off x="-80169" y="9509796"/>
            <a:ext cx="18368169" cy="777204"/>
            <a:chOff x="0" y="0"/>
            <a:chExt cx="4837707" cy="204696"/>
          </a:xfrm>
        </p:grpSpPr>
        <p:sp>
          <p:nvSpPr>
            <p:cNvPr name="Freeform 6" id="6"/>
            <p:cNvSpPr/>
            <p:nvPr/>
          </p:nvSpPr>
          <p:spPr>
            <a:xfrm flipH="false" flipV="false" rot="0">
              <a:off x="0" y="0"/>
              <a:ext cx="4837707" cy="204696"/>
            </a:xfrm>
            <a:custGeom>
              <a:avLst/>
              <a:gdLst/>
              <a:ahLst/>
              <a:cxnLst/>
              <a:rect r="r" b="b" t="t" l="l"/>
              <a:pathLst>
                <a:path h="204696" w="4837707">
                  <a:moveTo>
                    <a:pt x="0" y="0"/>
                  </a:moveTo>
                  <a:lnTo>
                    <a:pt x="4837707" y="0"/>
                  </a:lnTo>
                  <a:lnTo>
                    <a:pt x="4837707" y="204696"/>
                  </a:lnTo>
                  <a:lnTo>
                    <a:pt x="0" y="204696"/>
                  </a:lnTo>
                  <a:close/>
                </a:path>
              </a:pathLst>
            </a:custGeom>
            <a:solidFill>
              <a:srgbClr val="00004D"/>
            </a:solidFill>
          </p:spPr>
        </p:sp>
        <p:sp>
          <p:nvSpPr>
            <p:cNvPr name="TextBox 7" id="7"/>
            <p:cNvSpPr txBox="true"/>
            <p:nvPr/>
          </p:nvSpPr>
          <p:spPr>
            <a:xfrm>
              <a:off x="0" y="-38100"/>
              <a:ext cx="4837707" cy="242796"/>
            </a:xfrm>
            <a:prstGeom prst="rect">
              <a:avLst/>
            </a:prstGeom>
          </p:spPr>
          <p:txBody>
            <a:bodyPr anchor="ctr" rtlCol="false" tIns="50800" lIns="50800" bIns="50800" rIns="50800"/>
            <a:lstStyle/>
            <a:p>
              <a:pPr algn="ctr">
                <a:lnSpc>
                  <a:spcPts val="3194"/>
                </a:lnSpc>
              </a:pPr>
            </a:p>
          </p:txBody>
        </p:sp>
      </p:grpSp>
      <p:grpSp>
        <p:nvGrpSpPr>
          <p:cNvPr name="Group 8" id="8"/>
          <p:cNvGrpSpPr/>
          <p:nvPr/>
        </p:nvGrpSpPr>
        <p:grpSpPr>
          <a:xfrm rot="0">
            <a:off x="1570271" y="417992"/>
            <a:ext cx="3881590" cy="783245"/>
            <a:chOff x="0" y="0"/>
            <a:chExt cx="5175454" cy="1044327"/>
          </a:xfrm>
        </p:grpSpPr>
        <p:sp>
          <p:nvSpPr>
            <p:cNvPr name="TextBox 9" id="9"/>
            <p:cNvSpPr txBox="true"/>
            <p:nvPr/>
          </p:nvSpPr>
          <p:spPr>
            <a:xfrm rot="0">
              <a:off x="0" y="474538"/>
              <a:ext cx="4606605" cy="569788"/>
            </a:xfrm>
            <a:prstGeom prst="rect">
              <a:avLst/>
            </a:prstGeom>
          </p:spPr>
          <p:txBody>
            <a:bodyPr anchor="t" rtlCol="false" tIns="0" lIns="0" bIns="0" rIns="0">
              <a:spAutoFit/>
            </a:bodyPr>
            <a:lstStyle/>
            <a:p>
              <a:pPr algn="l">
                <a:lnSpc>
                  <a:spcPts val="3614"/>
                </a:lnSpc>
              </a:pPr>
              <a:r>
                <a:rPr lang="en-US" sz="2581" b="true">
                  <a:solidFill>
                    <a:srgbClr val="000000"/>
                  </a:solidFill>
                  <a:latin typeface="Inter Bold"/>
                  <a:ea typeface="Inter Bold"/>
                  <a:cs typeface="Inter Bold"/>
                  <a:sym typeface="Inter Bold"/>
                </a:rPr>
                <a:t>Sppg Sindang Asih</a:t>
              </a:r>
            </a:p>
          </p:txBody>
        </p:sp>
        <p:sp>
          <p:nvSpPr>
            <p:cNvPr name="TextBox 10" id="10"/>
            <p:cNvSpPr txBox="true"/>
            <p:nvPr/>
          </p:nvSpPr>
          <p:spPr>
            <a:xfrm rot="0">
              <a:off x="0" y="-47625"/>
              <a:ext cx="5175454" cy="569788"/>
            </a:xfrm>
            <a:prstGeom prst="rect">
              <a:avLst/>
            </a:prstGeom>
          </p:spPr>
          <p:txBody>
            <a:bodyPr anchor="t" rtlCol="false" tIns="0" lIns="0" bIns="0" rIns="0">
              <a:spAutoFit/>
            </a:bodyPr>
            <a:lstStyle/>
            <a:p>
              <a:pPr algn="l">
                <a:lnSpc>
                  <a:spcPts val="3614"/>
                </a:lnSpc>
              </a:pPr>
              <a:r>
                <a:rPr lang="en-US" sz="2581" b="true">
                  <a:solidFill>
                    <a:srgbClr val="000000"/>
                  </a:solidFill>
                  <a:latin typeface="Inter Bold"/>
                  <a:ea typeface="Inter Bold"/>
                  <a:cs typeface="Inter Bold"/>
                  <a:sym typeface="Inter Bold"/>
                </a:rPr>
                <a:t>Badan Gizi Nasional</a:t>
              </a:r>
            </a:p>
          </p:txBody>
        </p:sp>
      </p:grpSp>
      <p:sp>
        <p:nvSpPr>
          <p:cNvPr name="TextBox 11" id="11"/>
          <p:cNvSpPr txBox="true"/>
          <p:nvPr/>
        </p:nvSpPr>
        <p:spPr>
          <a:xfrm rot="0">
            <a:off x="6416177" y="1217172"/>
            <a:ext cx="5375477" cy="905764"/>
          </a:xfrm>
          <a:prstGeom prst="rect">
            <a:avLst/>
          </a:prstGeom>
        </p:spPr>
        <p:txBody>
          <a:bodyPr anchor="t" rtlCol="false" tIns="0" lIns="0" bIns="0" rIns="0">
            <a:spAutoFit/>
          </a:bodyPr>
          <a:lstStyle/>
          <a:p>
            <a:pPr algn="ctr">
              <a:lnSpc>
                <a:spcPts val="7061"/>
              </a:lnSpc>
            </a:pPr>
            <a:r>
              <a:rPr lang="en-US" sz="6140">
                <a:solidFill>
                  <a:srgbClr val="000000"/>
                </a:solidFill>
                <a:latin typeface="Rye"/>
                <a:ea typeface="Rye"/>
                <a:cs typeface="Rye"/>
                <a:sym typeface="Rye"/>
              </a:rPr>
              <a:t>PEMORSIAN</a:t>
            </a:r>
          </a:p>
        </p:txBody>
      </p:sp>
      <p:sp>
        <p:nvSpPr>
          <p:cNvPr name="TextBox 12" id="12"/>
          <p:cNvSpPr txBox="true"/>
          <p:nvPr/>
        </p:nvSpPr>
        <p:spPr>
          <a:xfrm rot="0">
            <a:off x="693376" y="2132461"/>
            <a:ext cx="16565924" cy="6525308"/>
          </a:xfrm>
          <a:prstGeom prst="rect">
            <a:avLst/>
          </a:prstGeom>
        </p:spPr>
        <p:txBody>
          <a:bodyPr anchor="t" rtlCol="false" tIns="0" lIns="0" bIns="0" rIns="0">
            <a:spAutoFit/>
          </a:bodyPr>
          <a:lstStyle/>
          <a:p>
            <a:pPr algn="just">
              <a:lnSpc>
                <a:spcPts val="3225"/>
              </a:lnSpc>
            </a:pPr>
            <a:r>
              <a:rPr lang="en-US" sz="2879" b="true">
                <a:solidFill>
                  <a:srgbClr val="000000"/>
                </a:solidFill>
                <a:latin typeface="Inter Bold"/>
                <a:ea typeface="Inter Bold"/>
                <a:cs typeface="Inter Bold"/>
                <a:sym typeface="Inter Bold"/>
              </a:rPr>
              <a:t>Berikut tugas dan tanggung jawab Divisi pemorsian </a:t>
            </a:r>
            <a:r>
              <a:rPr lang="en-US" sz="2879" b="true">
                <a:solidFill>
                  <a:srgbClr val="000000"/>
                </a:solidFill>
                <a:latin typeface="Inter Bold"/>
                <a:ea typeface="Inter Bold"/>
                <a:cs typeface="Inter Bold"/>
                <a:sym typeface="Inter Bold"/>
              </a:rPr>
              <a:t>Di Satuan Pelayanan program pemenuhan Gizi yaitu :</a:t>
            </a:r>
          </a:p>
          <a:p>
            <a:pPr algn="just">
              <a:lnSpc>
                <a:spcPts val="3225"/>
              </a:lnSpc>
            </a:pPr>
            <a:r>
              <a:rPr lang="en-US" sz="2879" b="true">
                <a:solidFill>
                  <a:srgbClr val="000000"/>
                </a:solidFill>
                <a:latin typeface="Inter Bold"/>
                <a:ea typeface="Inter Bold"/>
                <a:cs typeface="Inter Bold"/>
                <a:sym typeface="Inter Bold"/>
              </a:rPr>
              <a:t>a) Memastikan ketersediaan peralatan makan beserta tutupnya. </a:t>
            </a:r>
          </a:p>
          <a:p>
            <a:pPr algn="just">
              <a:lnSpc>
                <a:spcPts val="3225"/>
              </a:lnSpc>
            </a:pPr>
            <a:r>
              <a:rPr lang="en-US" sz="2879" b="true">
                <a:solidFill>
                  <a:srgbClr val="000000"/>
                </a:solidFill>
                <a:latin typeface="Inter Bold"/>
                <a:ea typeface="Inter Bold"/>
                <a:cs typeface="Inter Bold"/>
                <a:sym typeface="Inter Bold"/>
              </a:rPr>
              <a:t>b) Memastikan ketersediaan makanan seperti susu, nasi, lauk, dan buah. </a:t>
            </a:r>
          </a:p>
          <a:p>
            <a:pPr algn="just">
              <a:lnSpc>
                <a:spcPts val="3225"/>
              </a:lnSpc>
            </a:pPr>
            <a:r>
              <a:rPr lang="en-US" sz="2879" b="true">
                <a:solidFill>
                  <a:srgbClr val="000000"/>
                </a:solidFill>
                <a:latin typeface="Inter Bold"/>
                <a:ea typeface="Inter Bold"/>
                <a:cs typeface="Inter Bold"/>
                <a:sym typeface="Inter Bold"/>
              </a:rPr>
              <a:t>c) Bertanggung jawab terhadap quality control dari buah (sortir dan timbang ketika buah datang). </a:t>
            </a:r>
          </a:p>
          <a:p>
            <a:pPr algn="just">
              <a:lnSpc>
                <a:spcPts val="3225"/>
              </a:lnSpc>
            </a:pPr>
            <a:r>
              <a:rPr lang="en-US" sz="2879" b="true">
                <a:solidFill>
                  <a:srgbClr val="000000"/>
                </a:solidFill>
                <a:latin typeface="Inter Bold"/>
                <a:ea typeface="Inter Bold"/>
                <a:cs typeface="Inter Bold"/>
                <a:sym typeface="Inter Bold"/>
              </a:rPr>
              <a:t>d) Bertanggung jawab dan memastikan peralatan makan terisi semua (nasi, lauk, sayur, buah, dan susu) dengan porsi sesuai ketentuan menurut kelompok umur penerima manfaat. </a:t>
            </a:r>
          </a:p>
          <a:p>
            <a:pPr algn="just">
              <a:lnSpc>
                <a:spcPts val="3225"/>
              </a:lnSpc>
            </a:pPr>
            <a:r>
              <a:rPr lang="en-US" sz="2879" b="true">
                <a:solidFill>
                  <a:srgbClr val="000000"/>
                </a:solidFill>
                <a:latin typeface="Inter Bold"/>
                <a:ea typeface="Inter Bold"/>
                <a:cs typeface="Inter Bold"/>
                <a:sym typeface="Inter Bold"/>
              </a:rPr>
              <a:t>e) Memastikan area kerja tertata rapih, bersih, dan higienis. </a:t>
            </a:r>
          </a:p>
          <a:p>
            <a:pPr algn="just">
              <a:lnSpc>
                <a:spcPts val="3225"/>
              </a:lnSpc>
            </a:pPr>
            <a:r>
              <a:rPr lang="en-US" sz="2879" b="true">
                <a:solidFill>
                  <a:srgbClr val="000000"/>
                </a:solidFill>
                <a:latin typeface="Inter Bold"/>
                <a:ea typeface="Inter Bold"/>
                <a:cs typeface="Inter Bold"/>
                <a:sym typeface="Inter Bold"/>
              </a:rPr>
              <a:t>f) Memastikan terpasang AC (Air Conditioner) dengan kapasitas yang memadai di area pemorsian. </a:t>
            </a:r>
          </a:p>
          <a:p>
            <a:pPr algn="just">
              <a:lnSpc>
                <a:spcPts val="2889"/>
              </a:lnSpc>
            </a:pPr>
            <a:r>
              <a:rPr lang="en-US" sz="2579" b="true">
                <a:solidFill>
                  <a:srgbClr val="000000"/>
                </a:solidFill>
                <a:latin typeface="Inter Bold"/>
                <a:ea typeface="Inter Bold"/>
                <a:cs typeface="Inter Bold"/>
                <a:sym typeface="Inter Bold"/>
              </a:rPr>
              <a:t>g) Melakukan stok opname dari bahan baku seperti susu dan buah, melakukan asset management alat </a:t>
            </a:r>
          </a:p>
          <a:p>
            <a:pPr algn="just">
              <a:lnSpc>
                <a:spcPts val="3225"/>
              </a:lnSpc>
            </a:pPr>
            <a:r>
              <a:rPr lang="en-US" sz="2879" b="true">
                <a:solidFill>
                  <a:srgbClr val="000000"/>
                </a:solidFill>
                <a:latin typeface="Inter Bold"/>
                <a:ea typeface="Inter Bold"/>
                <a:cs typeface="Inter Bold"/>
                <a:sym typeface="Inter Bold"/>
              </a:rPr>
              <a:t>makan beserta tutupnya. </a:t>
            </a:r>
          </a:p>
          <a:p>
            <a:pPr algn="just">
              <a:lnSpc>
                <a:spcPts val="3225"/>
              </a:lnSpc>
            </a:pPr>
            <a:r>
              <a:rPr lang="en-US" sz="2879" b="true">
                <a:solidFill>
                  <a:srgbClr val="000000"/>
                </a:solidFill>
                <a:latin typeface="Inter Bold"/>
                <a:ea typeface="Inter Bold"/>
                <a:cs typeface="Inter Bold"/>
                <a:sym typeface="Inter Bold"/>
              </a:rPr>
              <a:t>h) Membersihkan alat peralatan pemorsian dan lingkungan pekerjaan sebelum ditinggalkan.</a:t>
            </a:r>
          </a:p>
          <a:p>
            <a:pPr algn="just">
              <a:lnSpc>
                <a:spcPts val="3225"/>
              </a:lnSpc>
            </a:pPr>
          </a:p>
          <a:p>
            <a:pPr algn="just">
              <a:lnSpc>
                <a:spcPts val="3225"/>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true" flipV="false" rot="0">
            <a:off x="0" y="6623175"/>
            <a:ext cx="5688855" cy="3977458"/>
          </a:xfrm>
          <a:custGeom>
            <a:avLst/>
            <a:gdLst/>
            <a:ahLst/>
            <a:cxnLst/>
            <a:rect r="r" b="b" t="t" l="l"/>
            <a:pathLst>
              <a:path h="3977458" w="5688855">
                <a:moveTo>
                  <a:pt x="5688855" y="0"/>
                </a:moveTo>
                <a:lnTo>
                  <a:pt x="0" y="0"/>
                </a:lnTo>
                <a:lnTo>
                  <a:pt x="0" y="3977458"/>
                </a:lnTo>
                <a:lnTo>
                  <a:pt x="5688855" y="3977458"/>
                </a:lnTo>
                <a:lnTo>
                  <a:pt x="5688855" y="0"/>
                </a:lnTo>
                <a:close/>
              </a:path>
            </a:pathLst>
          </a:custGeom>
          <a:blipFill>
            <a:blip r:embed="rId2">
              <a:alphaModFix amt="49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9934" y="0"/>
            <a:ext cx="4532959" cy="4245872"/>
          </a:xfrm>
          <a:custGeom>
            <a:avLst/>
            <a:gdLst/>
            <a:ahLst/>
            <a:cxnLst/>
            <a:rect r="r" b="b" t="t" l="l"/>
            <a:pathLst>
              <a:path h="4245872" w="4532959">
                <a:moveTo>
                  <a:pt x="0" y="0"/>
                </a:moveTo>
                <a:lnTo>
                  <a:pt x="4532959" y="0"/>
                </a:lnTo>
                <a:lnTo>
                  <a:pt x="4532959" y="4245872"/>
                </a:lnTo>
                <a:lnTo>
                  <a:pt x="0" y="42458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08092" y="0"/>
            <a:ext cx="1885101" cy="1619230"/>
          </a:xfrm>
          <a:custGeom>
            <a:avLst/>
            <a:gdLst/>
            <a:ahLst/>
            <a:cxnLst/>
            <a:rect r="r" b="b" t="t" l="l"/>
            <a:pathLst>
              <a:path h="1619230" w="1885101">
                <a:moveTo>
                  <a:pt x="0" y="0"/>
                </a:moveTo>
                <a:lnTo>
                  <a:pt x="1885101" y="0"/>
                </a:lnTo>
                <a:lnTo>
                  <a:pt x="1885101" y="1619230"/>
                </a:lnTo>
                <a:lnTo>
                  <a:pt x="0" y="1619230"/>
                </a:lnTo>
                <a:lnTo>
                  <a:pt x="0" y="0"/>
                </a:lnTo>
                <a:close/>
              </a:path>
            </a:pathLst>
          </a:custGeom>
          <a:blipFill>
            <a:blip r:embed="rId6"/>
            <a:stretch>
              <a:fillRect l="0" t="-29178" r="0" b="-5350"/>
            </a:stretch>
          </a:blipFill>
        </p:spPr>
      </p:sp>
      <p:grpSp>
        <p:nvGrpSpPr>
          <p:cNvPr name="Group 5" id="5"/>
          <p:cNvGrpSpPr/>
          <p:nvPr/>
        </p:nvGrpSpPr>
        <p:grpSpPr>
          <a:xfrm rot="0">
            <a:off x="-80169" y="9509796"/>
            <a:ext cx="18368169" cy="777204"/>
            <a:chOff x="0" y="0"/>
            <a:chExt cx="4837707" cy="204696"/>
          </a:xfrm>
        </p:grpSpPr>
        <p:sp>
          <p:nvSpPr>
            <p:cNvPr name="Freeform 6" id="6"/>
            <p:cNvSpPr/>
            <p:nvPr/>
          </p:nvSpPr>
          <p:spPr>
            <a:xfrm flipH="false" flipV="false" rot="0">
              <a:off x="0" y="0"/>
              <a:ext cx="4837707" cy="204696"/>
            </a:xfrm>
            <a:custGeom>
              <a:avLst/>
              <a:gdLst/>
              <a:ahLst/>
              <a:cxnLst/>
              <a:rect r="r" b="b" t="t" l="l"/>
              <a:pathLst>
                <a:path h="204696" w="4837707">
                  <a:moveTo>
                    <a:pt x="0" y="0"/>
                  </a:moveTo>
                  <a:lnTo>
                    <a:pt x="4837707" y="0"/>
                  </a:lnTo>
                  <a:lnTo>
                    <a:pt x="4837707" y="204696"/>
                  </a:lnTo>
                  <a:lnTo>
                    <a:pt x="0" y="204696"/>
                  </a:lnTo>
                  <a:close/>
                </a:path>
              </a:pathLst>
            </a:custGeom>
            <a:solidFill>
              <a:srgbClr val="00004D"/>
            </a:solidFill>
          </p:spPr>
        </p:sp>
        <p:sp>
          <p:nvSpPr>
            <p:cNvPr name="TextBox 7" id="7"/>
            <p:cNvSpPr txBox="true"/>
            <p:nvPr/>
          </p:nvSpPr>
          <p:spPr>
            <a:xfrm>
              <a:off x="0" y="-38100"/>
              <a:ext cx="4837707" cy="242796"/>
            </a:xfrm>
            <a:prstGeom prst="rect">
              <a:avLst/>
            </a:prstGeom>
          </p:spPr>
          <p:txBody>
            <a:bodyPr anchor="ctr" rtlCol="false" tIns="50800" lIns="50800" bIns="50800" rIns="50800"/>
            <a:lstStyle/>
            <a:p>
              <a:pPr algn="ctr">
                <a:lnSpc>
                  <a:spcPts val="3194"/>
                </a:lnSpc>
              </a:pPr>
            </a:p>
          </p:txBody>
        </p:sp>
      </p:grpSp>
      <p:grpSp>
        <p:nvGrpSpPr>
          <p:cNvPr name="Group 8" id="8"/>
          <p:cNvGrpSpPr/>
          <p:nvPr/>
        </p:nvGrpSpPr>
        <p:grpSpPr>
          <a:xfrm rot="0">
            <a:off x="1404376" y="417992"/>
            <a:ext cx="3881590" cy="783245"/>
            <a:chOff x="0" y="0"/>
            <a:chExt cx="5175454" cy="1044327"/>
          </a:xfrm>
        </p:grpSpPr>
        <p:sp>
          <p:nvSpPr>
            <p:cNvPr name="TextBox 9" id="9"/>
            <p:cNvSpPr txBox="true"/>
            <p:nvPr/>
          </p:nvSpPr>
          <p:spPr>
            <a:xfrm rot="0">
              <a:off x="0" y="474538"/>
              <a:ext cx="4606605" cy="569788"/>
            </a:xfrm>
            <a:prstGeom prst="rect">
              <a:avLst/>
            </a:prstGeom>
          </p:spPr>
          <p:txBody>
            <a:bodyPr anchor="t" rtlCol="false" tIns="0" lIns="0" bIns="0" rIns="0">
              <a:spAutoFit/>
            </a:bodyPr>
            <a:lstStyle/>
            <a:p>
              <a:pPr algn="l">
                <a:lnSpc>
                  <a:spcPts val="3614"/>
                </a:lnSpc>
              </a:pPr>
              <a:r>
                <a:rPr lang="en-US" sz="2581" b="true">
                  <a:solidFill>
                    <a:srgbClr val="000000"/>
                  </a:solidFill>
                  <a:latin typeface="Inter Bold"/>
                  <a:ea typeface="Inter Bold"/>
                  <a:cs typeface="Inter Bold"/>
                  <a:sym typeface="Inter Bold"/>
                </a:rPr>
                <a:t>Sppg Sindang Asih</a:t>
              </a:r>
            </a:p>
          </p:txBody>
        </p:sp>
        <p:sp>
          <p:nvSpPr>
            <p:cNvPr name="TextBox 10" id="10"/>
            <p:cNvSpPr txBox="true"/>
            <p:nvPr/>
          </p:nvSpPr>
          <p:spPr>
            <a:xfrm rot="0">
              <a:off x="0" y="-47625"/>
              <a:ext cx="5175454" cy="569788"/>
            </a:xfrm>
            <a:prstGeom prst="rect">
              <a:avLst/>
            </a:prstGeom>
          </p:spPr>
          <p:txBody>
            <a:bodyPr anchor="t" rtlCol="false" tIns="0" lIns="0" bIns="0" rIns="0">
              <a:spAutoFit/>
            </a:bodyPr>
            <a:lstStyle/>
            <a:p>
              <a:pPr algn="l">
                <a:lnSpc>
                  <a:spcPts val="3614"/>
                </a:lnSpc>
              </a:pPr>
              <a:r>
                <a:rPr lang="en-US" sz="2581" b="true">
                  <a:solidFill>
                    <a:srgbClr val="000000"/>
                  </a:solidFill>
                  <a:latin typeface="Inter Bold"/>
                  <a:ea typeface="Inter Bold"/>
                  <a:cs typeface="Inter Bold"/>
                  <a:sym typeface="Inter Bold"/>
                </a:rPr>
                <a:t>Badan Gizi Nasional</a:t>
              </a:r>
            </a:p>
          </p:txBody>
        </p:sp>
      </p:grpSp>
      <p:sp>
        <p:nvSpPr>
          <p:cNvPr name="TextBox 11" id="11"/>
          <p:cNvSpPr txBox="true"/>
          <p:nvPr/>
        </p:nvSpPr>
        <p:spPr>
          <a:xfrm rot="0">
            <a:off x="6348996" y="1057275"/>
            <a:ext cx="5590009" cy="905776"/>
          </a:xfrm>
          <a:prstGeom prst="rect">
            <a:avLst/>
          </a:prstGeom>
        </p:spPr>
        <p:txBody>
          <a:bodyPr anchor="t" rtlCol="false" tIns="0" lIns="0" bIns="0" rIns="0">
            <a:spAutoFit/>
          </a:bodyPr>
          <a:lstStyle/>
          <a:p>
            <a:pPr algn="ctr">
              <a:lnSpc>
                <a:spcPts val="7063"/>
              </a:lnSpc>
            </a:pPr>
            <a:r>
              <a:rPr lang="en-US" sz="6141">
                <a:solidFill>
                  <a:srgbClr val="000000"/>
                </a:solidFill>
                <a:latin typeface="Rye"/>
                <a:ea typeface="Rye"/>
                <a:cs typeface="Rye"/>
                <a:sym typeface="Rye"/>
              </a:rPr>
              <a:t>DISTRIBUSI</a:t>
            </a:r>
          </a:p>
        </p:txBody>
      </p:sp>
      <p:sp>
        <p:nvSpPr>
          <p:cNvPr name="TextBox 12" id="12"/>
          <p:cNvSpPr txBox="true"/>
          <p:nvPr/>
        </p:nvSpPr>
        <p:spPr>
          <a:xfrm rot="0">
            <a:off x="634459" y="1982101"/>
            <a:ext cx="17390101" cy="8013240"/>
          </a:xfrm>
          <a:prstGeom prst="rect">
            <a:avLst/>
          </a:prstGeom>
        </p:spPr>
        <p:txBody>
          <a:bodyPr anchor="t" rtlCol="false" tIns="0" lIns="0" bIns="0" rIns="0">
            <a:spAutoFit/>
          </a:bodyPr>
          <a:lstStyle/>
          <a:p>
            <a:pPr algn="just">
              <a:lnSpc>
                <a:spcPts val="3561"/>
              </a:lnSpc>
            </a:pPr>
            <a:r>
              <a:rPr lang="en-US" sz="3179" b="true">
                <a:solidFill>
                  <a:srgbClr val="000000"/>
                </a:solidFill>
                <a:latin typeface="Inter Bold"/>
                <a:ea typeface="Inter Bold"/>
                <a:cs typeface="Inter Bold"/>
                <a:sym typeface="Inter Bold"/>
              </a:rPr>
              <a:t>Berikut tugas dan tanggung jawab Divisi Distribusi </a:t>
            </a:r>
            <a:r>
              <a:rPr lang="en-US" sz="3179" b="true">
                <a:solidFill>
                  <a:srgbClr val="000000"/>
                </a:solidFill>
                <a:latin typeface="Inter Bold"/>
                <a:ea typeface="Inter Bold"/>
                <a:cs typeface="Inter Bold"/>
                <a:sym typeface="Inter Bold"/>
              </a:rPr>
              <a:t>Di Satuan Pelayanan program pemenuhan Gizi yaitu :</a:t>
            </a:r>
          </a:p>
          <a:p>
            <a:pPr algn="just">
              <a:lnSpc>
                <a:spcPts val="3561"/>
              </a:lnSpc>
            </a:pPr>
            <a:r>
              <a:rPr lang="en-US" sz="3179" b="true">
                <a:solidFill>
                  <a:srgbClr val="000000"/>
                </a:solidFill>
                <a:latin typeface="Inter Bold"/>
                <a:ea typeface="Inter Bold"/>
                <a:cs typeface="Inter Bold"/>
                <a:sym typeface="Inter Bold"/>
              </a:rPr>
              <a:t>a) Memastikan kendaraan dalam keadaan bersih, rapi, higienis, dan aman. </a:t>
            </a:r>
          </a:p>
          <a:p>
            <a:pPr algn="just">
              <a:lnSpc>
                <a:spcPts val="3561"/>
              </a:lnSpc>
            </a:pPr>
            <a:r>
              <a:rPr lang="en-US" sz="3179" b="true">
                <a:solidFill>
                  <a:srgbClr val="000000"/>
                </a:solidFill>
                <a:latin typeface="Inter Bold"/>
                <a:ea typeface="Inter Bold"/>
                <a:cs typeface="Inter Bold"/>
                <a:sym typeface="Inter Bold"/>
              </a:rPr>
              <a:t>b)Melakukan pemeriksaan kondisi kendaraan sebelum pendistribusian, meliputi aspek kelayakan dan keselamatan operasional, untuk memastikankendaraan layak digunakan. </a:t>
            </a:r>
          </a:p>
          <a:p>
            <a:pPr algn="just">
              <a:lnSpc>
                <a:spcPts val="3561"/>
              </a:lnSpc>
            </a:pPr>
            <a:r>
              <a:rPr lang="en-US" sz="3179" b="true">
                <a:solidFill>
                  <a:srgbClr val="000000"/>
                </a:solidFill>
                <a:latin typeface="Inter Bold"/>
                <a:ea typeface="Inter Bold"/>
                <a:cs typeface="Inter Bold"/>
                <a:sym typeface="Inter Bold"/>
              </a:rPr>
              <a:t>c) Memastikan sopir distribusi dalam kondisi sehat, bugar</a:t>
            </a:r>
          </a:p>
          <a:p>
            <a:pPr algn="just">
              <a:lnSpc>
                <a:spcPts val="3561"/>
              </a:lnSpc>
            </a:pPr>
            <a:r>
              <a:rPr lang="en-US" sz="3179" b="true">
                <a:solidFill>
                  <a:srgbClr val="000000"/>
                </a:solidFill>
                <a:latin typeface="Inter Bold"/>
                <a:ea typeface="Inter Bold"/>
                <a:cs typeface="Inter Bold"/>
                <a:sym typeface="Inter Bold"/>
              </a:rPr>
              <a:t>(tidak mengantuk, tidak mabuk, atau kondisilain yang berpotensi membahayakan keselamatan proses pendistribusian MBG), melaksanakan tugas pendistribusian. dan siap </a:t>
            </a:r>
          </a:p>
          <a:p>
            <a:pPr algn="just">
              <a:lnSpc>
                <a:spcPts val="3561"/>
              </a:lnSpc>
            </a:pPr>
            <a:r>
              <a:rPr lang="en-US" sz="3179" b="true">
                <a:solidFill>
                  <a:srgbClr val="000000"/>
                </a:solidFill>
                <a:latin typeface="Inter Bold"/>
                <a:ea typeface="Inter Bold"/>
                <a:cs typeface="Inter Bold"/>
                <a:sym typeface="Inter Bold"/>
              </a:rPr>
              <a:t>d) Dalam satu tim distribusi wajib terdapat 1 (satu)orang sopir utama, dan 1 (satu) orang sopir cadangan/pengganti yang keduanya memiliki kemampuan mengemudika pendistribusian. kendaraan </a:t>
            </a:r>
          </a:p>
          <a:p>
            <a:pPr algn="just">
              <a:lnSpc>
                <a:spcPts val="3561"/>
              </a:lnSpc>
            </a:pPr>
            <a:r>
              <a:rPr lang="en-US" sz="3179" b="true">
                <a:solidFill>
                  <a:srgbClr val="000000"/>
                </a:solidFill>
                <a:latin typeface="Inter Bold"/>
                <a:ea typeface="Inter Bold"/>
                <a:cs typeface="Inter Bold"/>
                <a:sym typeface="Inter Bold"/>
              </a:rPr>
              <a:t>e)Bertanggung jawab memasukkan makanan ke dalam kendaraan dan mendistribusikannya ke lokasi penerima manfaat. </a:t>
            </a:r>
          </a:p>
          <a:p>
            <a:pPr algn="just">
              <a:lnSpc>
                <a:spcPts val="3561"/>
              </a:lnSpc>
            </a:pPr>
            <a:r>
              <a:rPr lang="en-US" sz="3179" b="true">
                <a:solidFill>
                  <a:srgbClr val="000000"/>
                </a:solidFill>
                <a:latin typeface="Inter Bold"/>
                <a:ea typeface="Inter Bold"/>
                <a:cs typeface="Inter Bold"/>
                <a:sym typeface="Inter Bold"/>
              </a:rPr>
              <a:t>f) Bertanggung jawab dan memastikan makanan selama proses pendistribusian tidak ada yang tumpah atau rusak.</a:t>
            </a:r>
          </a:p>
          <a:p>
            <a:pPr algn="just">
              <a:lnSpc>
                <a:spcPts val="3337"/>
              </a:lnSpc>
            </a:pPr>
          </a:p>
          <a:p>
            <a:pPr algn="just">
              <a:lnSpc>
                <a:spcPts val="3337"/>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true" flipV="false" rot="0">
            <a:off x="0" y="6623175"/>
            <a:ext cx="5688855" cy="3977458"/>
          </a:xfrm>
          <a:custGeom>
            <a:avLst/>
            <a:gdLst/>
            <a:ahLst/>
            <a:cxnLst/>
            <a:rect r="r" b="b" t="t" l="l"/>
            <a:pathLst>
              <a:path h="3977458" w="5688855">
                <a:moveTo>
                  <a:pt x="5688855" y="0"/>
                </a:moveTo>
                <a:lnTo>
                  <a:pt x="0" y="0"/>
                </a:lnTo>
                <a:lnTo>
                  <a:pt x="0" y="3977458"/>
                </a:lnTo>
                <a:lnTo>
                  <a:pt x="5688855" y="3977458"/>
                </a:lnTo>
                <a:lnTo>
                  <a:pt x="5688855" y="0"/>
                </a:lnTo>
                <a:close/>
              </a:path>
            </a:pathLst>
          </a:custGeom>
          <a:blipFill>
            <a:blip r:embed="rId2">
              <a:alphaModFix amt="49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9934" y="0"/>
            <a:ext cx="4532959" cy="4245872"/>
          </a:xfrm>
          <a:custGeom>
            <a:avLst/>
            <a:gdLst/>
            <a:ahLst/>
            <a:cxnLst/>
            <a:rect r="r" b="b" t="t" l="l"/>
            <a:pathLst>
              <a:path h="4245872" w="4532959">
                <a:moveTo>
                  <a:pt x="0" y="0"/>
                </a:moveTo>
                <a:lnTo>
                  <a:pt x="4532959" y="0"/>
                </a:lnTo>
                <a:lnTo>
                  <a:pt x="4532959" y="4245872"/>
                </a:lnTo>
                <a:lnTo>
                  <a:pt x="0" y="42458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39934" y="-776"/>
            <a:ext cx="1885101" cy="1619230"/>
          </a:xfrm>
          <a:custGeom>
            <a:avLst/>
            <a:gdLst/>
            <a:ahLst/>
            <a:cxnLst/>
            <a:rect r="r" b="b" t="t" l="l"/>
            <a:pathLst>
              <a:path h="1619230" w="1885101">
                <a:moveTo>
                  <a:pt x="0" y="0"/>
                </a:moveTo>
                <a:lnTo>
                  <a:pt x="1885101" y="0"/>
                </a:lnTo>
                <a:lnTo>
                  <a:pt x="1885101" y="1619229"/>
                </a:lnTo>
                <a:lnTo>
                  <a:pt x="0" y="1619229"/>
                </a:lnTo>
                <a:lnTo>
                  <a:pt x="0" y="0"/>
                </a:lnTo>
                <a:close/>
              </a:path>
            </a:pathLst>
          </a:custGeom>
          <a:blipFill>
            <a:blip r:embed="rId6"/>
            <a:stretch>
              <a:fillRect l="0" t="-29178" r="0" b="-5350"/>
            </a:stretch>
          </a:blipFill>
        </p:spPr>
      </p:sp>
      <p:grpSp>
        <p:nvGrpSpPr>
          <p:cNvPr name="Group 5" id="5"/>
          <p:cNvGrpSpPr/>
          <p:nvPr/>
        </p:nvGrpSpPr>
        <p:grpSpPr>
          <a:xfrm rot="0">
            <a:off x="-80169" y="9509796"/>
            <a:ext cx="18368169" cy="777204"/>
            <a:chOff x="0" y="0"/>
            <a:chExt cx="4837707" cy="204696"/>
          </a:xfrm>
        </p:grpSpPr>
        <p:sp>
          <p:nvSpPr>
            <p:cNvPr name="Freeform 6" id="6"/>
            <p:cNvSpPr/>
            <p:nvPr/>
          </p:nvSpPr>
          <p:spPr>
            <a:xfrm flipH="false" flipV="false" rot="0">
              <a:off x="0" y="0"/>
              <a:ext cx="4837707" cy="204696"/>
            </a:xfrm>
            <a:custGeom>
              <a:avLst/>
              <a:gdLst/>
              <a:ahLst/>
              <a:cxnLst/>
              <a:rect r="r" b="b" t="t" l="l"/>
              <a:pathLst>
                <a:path h="204696" w="4837707">
                  <a:moveTo>
                    <a:pt x="0" y="0"/>
                  </a:moveTo>
                  <a:lnTo>
                    <a:pt x="4837707" y="0"/>
                  </a:lnTo>
                  <a:lnTo>
                    <a:pt x="4837707" y="204696"/>
                  </a:lnTo>
                  <a:lnTo>
                    <a:pt x="0" y="204696"/>
                  </a:lnTo>
                  <a:close/>
                </a:path>
              </a:pathLst>
            </a:custGeom>
            <a:solidFill>
              <a:srgbClr val="00004D"/>
            </a:solidFill>
          </p:spPr>
        </p:sp>
        <p:sp>
          <p:nvSpPr>
            <p:cNvPr name="TextBox 7" id="7"/>
            <p:cNvSpPr txBox="true"/>
            <p:nvPr/>
          </p:nvSpPr>
          <p:spPr>
            <a:xfrm>
              <a:off x="0" y="-38100"/>
              <a:ext cx="4837707" cy="242796"/>
            </a:xfrm>
            <a:prstGeom prst="rect">
              <a:avLst/>
            </a:prstGeom>
          </p:spPr>
          <p:txBody>
            <a:bodyPr anchor="ctr" rtlCol="false" tIns="50800" lIns="50800" bIns="50800" rIns="50800"/>
            <a:lstStyle/>
            <a:p>
              <a:pPr algn="ctr">
                <a:lnSpc>
                  <a:spcPts val="3194"/>
                </a:lnSpc>
              </a:pPr>
            </a:p>
          </p:txBody>
        </p:sp>
      </p:grpSp>
      <p:grpSp>
        <p:nvGrpSpPr>
          <p:cNvPr name="Group 8" id="8"/>
          <p:cNvGrpSpPr/>
          <p:nvPr/>
        </p:nvGrpSpPr>
        <p:grpSpPr>
          <a:xfrm rot="0">
            <a:off x="1546572" y="417216"/>
            <a:ext cx="3881590" cy="783245"/>
            <a:chOff x="0" y="0"/>
            <a:chExt cx="5175454" cy="1044327"/>
          </a:xfrm>
        </p:grpSpPr>
        <p:sp>
          <p:nvSpPr>
            <p:cNvPr name="TextBox 9" id="9"/>
            <p:cNvSpPr txBox="true"/>
            <p:nvPr/>
          </p:nvSpPr>
          <p:spPr>
            <a:xfrm rot="0">
              <a:off x="0" y="474538"/>
              <a:ext cx="4606605" cy="569788"/>
            </a:xfrm>
            <a:prstGeom prst="rect">
              <a:avLst/>
            </a:prstGeom>
          </p:spPr>
          <p:txBody>
            <a:bodyPr anchor="t" rtlCol="false" tIns="0" lIns="0" bIns="0" rIns="0">
              <a:spAutoFit/>
            </a:bodyPr>
            <a:lstStyle/>
            <a:p>
              <a:pPr algn="l">
                <a:lnSpc>
                  <a:spcPts val="3614"/>
                </a:lnSpc>
              </a:pPr>
              <a:r>
                <a:rPr lang="en-US" sz="2581" b="true">
                  <a:solidFill>
                    <a:srgbClr val="000000"/>
                  </a:solidFill>
                  <a:latin typeface="Inter Bold"/>
                  <a:ea typeface="Inter Bold"/>
                  <a:cs typeface="Inter Bold"/>
                  <a:sym typeface="Inter Bold"/>
                </a:rPr>
                <a:t>Sppg Sindang Asih</a:t>
              </a:r>
            </a:p>
          </p:txBody>
        </p:sp>
        <p:sp>
          <p:nvSpPr>
            <p:cNvPr name="TextBox 10" id="10"/>
            <p:cNvSpPr txBox="true"/>
            <p:nvPr/>
          </p:nvSpPr>
          <p:spPr>
            <a:xfrm rot="0">
              <a:off x="0" y="-47625"/>
              <a:ext cx="5175454" cy="569788"/>
            </a:xfrm>
            <a:prstGeom prst="rect">
              <a:avLst/>
            </a:prstGeom>
          </p:spPr>
          <p:txBody>
            <a:bodyPr anchor="t" rtlCol="false" tIns="0" lIns="0" bIns="0" rIns="0">
              <a:spAutoFit/>
            </a:bodyPr>
            <a:lstStyle/>
            <a:p>
              <a:pPr algn="l">
                <a:lnSpc>
                  <a:spcPts val="3614"/>
                </a:lnSpc>
              </a:pPr>
              <a:r>
                <a:rPr lang="en-US" sz="2581" b="true">
                  <a:solidFill>
                    <a:srgbClr val="000000"/>
                  </a:solidFill>
                  <a:latin typeface="Inter Bold"/>
                  <a:ea typeface="Inter Bold"/>
                  <a:cs typeface="Inter Bold"/>
                  <a:sym typeface="Inter Bold"/>
                </a:rPr>
                <a:t>Badan Gizi Nasional</a:t>
              </a:r>
            </a:p>
          </p:txBody>
        </p:sp>
      </p:grpSp>
      <p:sp>
        <p:nvSpPr>
          <p:cNvPr name="TextBox 11" id="11"/>
          <p:cNvSpPr txBox="true"/>
          <p:nvPr/>
        </p:nvSpPr>
        <p:spPr>
          <a:xfrm rot="0">
            <a:off x="6053958" y="1057275"/>
            <a:ext cx="5774870" cy="905776"/>
          </a:xfrm>
          <a:prstGeom prst="rect">
            <a:avLst/>
          </a:prstGeom>
        </p:spPr>
        <p:txBody>
          <a:bodyPr anchor="t" rtlCol="false" tIns="0" lIns="0" bIns="0" rIns="0">
            <a:spAutoFit/>
          </a:bodyPr>
          <a:lstStyle/>
          <a:p>
            <a:pPr algn="ctr">
              <a:lnSpc>
                <a:spcPts val="7063"/>
              </a:lnSpc>
            </a:pPr>
            <a:r>
              <a:rPr lang="en-US" sz="6141">
                <a:solidFill>
                  <a:srgbClr val="000000"/>
                </a:solidFill>
                <a:latin typeface="Rye"/>
                <a:ea typeface="Rye"/>
                <a:cs typeface="Rye"/>
                <a:sym typeface="Rye"/>
              </a:rPr>
              <a:t>KEBERSIHAN</a:t>
            </a:r>
          </a:p>
        </p:txBody>
      </p:sp>
      <p:sp>
        <p:nvSpPr>
          <p:cNvPr name="TextBox 12" id="12"/>
          <p:cNvSpPr txBox="true"/>
          <p:nvPr/>
        </p:nvSpPr>
        <p:spPr>
          <a:xfrm rot="0">
            <a:off x="802616" y="2108787"/>
            <a:ext cx="16865625" cy="7149513"/>
          </a:xfrm>
          <a:prstGeom prst="rect">
            <a:avLst/>
          </a:prstGeom>
        </p:spPr>
        <p:txBody>
          <a:bodyPr anchor="t" rtlCol="false" tIns="0" lIns="0" bIns="0" rIns="0">
            <a:spAutoFit/>
          </a:bodyPr>
          <a:lstStyle/>
          <a:p>
            <a:pPr algn="just">
              <a:lnSpc>
                <a:spcPts val="3785"/>
              </a:lnSpc>
            </a:pPr>
            <a:r>
              <a:rPr lang="en-US" sz="3379" b="true">
                <a:solidFill>
                  <a:srgbClr val="000000"/>
                </a:solidFill>
                <a:latin typeface="Inter Bold"/>
                <a:ea typeface="Inter Bold"/>
                <a:cs typeface="Inter Bold"/>
                <a:sym typeface="Inter Bold"/>
              </a:rPr>
              <a:t>Berikut tugas dan tanggung jawab Divisi Kebersihan </a:t>
            </a:r>
            <a:r>
              <a:rPr lang="en-US" sz="3379" b="true">
                <a:solidFill>
                  <a:srgbClr val="000000"/>
                </a:solidFill>
                <a:latin typeface="Inter Bold"/>
                <a:ea typeface="Inter Bold"/>
                <a:cs typeface="Inter Bold"/>
                <a:sym typeface="Inter Bold"/>
              </a:rPr>
              <a:t>Di Satuan Pelayanan program pemenuhan Gizi yaitu :</a:t>
            </a:r>
          </a:p>
          <a:p>
            <a:pPr algn="just">
              <a:lnSpc>
                <a:spcPts val="3785"/>
              </a:lnSpc>
            </a:pPr>
            <a:r>
              <a:rPr lang="en-US" sz="3379" b="true">
                <a:solidFill>
                  <a:srgbClr val="000000"/>
                </a:solidFill>
                <a:latin typeface="Inter Bold"/>
                <a:ea typeface="Inter Bold"/>
                <a:cs typeface="Inter Bold"/>
                <a:sym typeface="Inter Bold"/>
              </a:rPr>
              <a:t>a)Memastikan dan bertanggung jawab terhadap kebersihan di semua area unit pelayanan. </a:t>
            </a:r>
          </a:p>
          <a:p>
            <a:pPr algn="just">
              <a:lnSpc>
                <a:spcPts val="3785"/>
              </a:lnSpc>
            </a:pPr>
            <a:r>
              <a:rPr lang="en-US" sz="3379" b="true">
                <a:solidFill>
                  <a:srgbClr val="000000"/>
                </a:solidFill>
                <a:latin typeface="Inter Bold"/>
                <a:ea typeface="Inter Bold"/>
                <a:cs typeface="Inter Bold"/>
                <a:sym typeface="Inter Bold"/>
              </a:rPr>
              <a:t>b)Memastikan sampah dibuang pada tempatnya dan tempat sampah dalam keadaan bersih ketika pulang. </a:t>
            </a:r>
          </a:p>
          <a:p>
            <a:pPr algn="just">
              <a:lnSpc>
                <a:spcPts val="3785"/>
              </a:lnSpc>
            </a:pPr>
            <a:r>
              <a:rPr lang="en-US" sz="3379" b="true">
                <a:solidFill>
                  <a:srgbClr val="000000"/>
                </a:solidFill>
                <a:latin typeface="Inter Bold"/>
                <a:ea typeface="Inter Bold"/>
                <a:cs typeface="Inter Bold"/>
                <a:sym typeface="Inter Bold"/>
              </a:rPr>
              <a:t>c)Melakukan cleaning setiap bagian di unit pelayanan. </a:t>
            </a:r>
          </a:p>
          <a:p>
            <a:pPr algn="just">
              <a:lnSpc>
                <a:spcPts val="3785"/>
              </a:lnSpc>
            </a:pPr>
            <a:r>
              <a:rPr lang="en-US" sz="3379" b="true">
                <a:solidFill>
                  <a:srgbClr val="000000"/>
                </a:solidFill>
                <a:latin typeface="Inter Bold"/>
                <a:ea typeface="Inter Bold"/>
                <a:cs typeface="Inter Bold"/>
                <a:sym typeface="Inter Bold"/>
              </a:rPr>
              <a:t>d)Memastikan dan bertanggung jawab dalam hal kebersihan alat seperti kipas angin, freezer, dan safety shoes.</a:t>
            </a:r>
          </a:p>
          <a:p>
            <a:pPr algn="just">
              <a:lnSpc>
                <a:spcPts val="3785"/>
              </a:lnSpc>
            </a:pPr>
            <a:r>
              <a:rPr lang="en-US" sz="3379" b="true">
                <a:solidFill>
                  <a:srgbClr val="000000"/>
                </a:solidFill>
                <a:latin typeface="Inter Bold"/>
                <a:ea typeface="Inter Bold"/>
                <a:cs typeface="Inter Bold"/>
                <a:sym typeface="Inter Bold"/>
              </a:rPr>
              <a:t>e) Memastika Sepatu Relawan di tempat yang sudah di sediakan</a:t>
            </a:r>
          </a:p>
          <a:p>
            <a:pPr algn="just">
              <a:lnSpc>
                <a:spcPts val="3785"/>
              </a:lnSpc>
            </a:pPr>
            <a:r>
              <a:rPr lang="en-US" sz="3379" b="true">
                <a:solidFill>
                  <a:srgbClr val="000000"/>
                </a:solidFill>
                <a:latin typeface="Inter Bold"/>
                <a:ea typeface="Inter Bold"/>
                <a:cs typeface="Inter Bold"/>
                <a:sym typeface="Inter Bold"/>
              </a:rPr>
              <a:t>g)Memastikan semua Relawan Yang memasuki Area dapur Memakan Apd (Alat pelindung diri)</a:t>
            </a:r>
          </a:p>
          <a:p>
            <a:pPr algn="just">
              <a:lnSpc>
                <a:spcPts val="3785"/>
              </a:lnSpc>
            </a:pPr>
            <a:r>
              <a:rPr lang="en-US" sz="3379" b="true">
                <a:solidFill>
                  <a:srgbClr val="000000"/>
                </a:solidFill>
                <a:latin typeface="Inter Bold"/>
                <a:ea typeface="Inter Bold"/>
                <a:cs typeface="Inter Bold"/>
                <a:sym typeface="Inter Bold"/>
              </a:rPr>
              <a:t>h) Menegur Relawan yang meroko di area Yang bukan tempatnya</a:t>
            </a:r>
          </a:p>
          <a:p>
            <a:pPr algn="just">
              <a:lnSpc>
                <a:spcPts val="3785"/>
              </a:lnSpc>
            </a:pPr>
          </a:p>
          <a:p>
            <a:pPr algn="just">
              <a:lnSpc>
                <a:spcPts val="3785"/>
              </a:lnSpc>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true" flipV="false" rot="0">
            <a:off x="0" y="6623175"/>
            <a:ext cx="5688855" cy="3977458"/>
          </a:xfrm>
          <a:custGeom>
            <a:avLst/>
            <a:gdLst/>
            <a:ahLst/>
            <a:cxnLst/>
            <a:rect r="r" b="b" t="t" l="l"/>
            <a:pathLst>
              <a:path h="3977458" w="5688855">
                <a:moveTo>
                  <a:pt x="5688855" y="0"/>
                </a:moveTo>
                <a:lnTo>
                  <a:pt x="0" y="0"/>
                </a:lnTo>
                <a:lnTo>
                  <a:pt x="0" y="3977458"/>
                </a:lnTo>
                <a:lnTo>
                  <a:pt x="5688855" y="3977458"/>
                </a:lnTo>
                <a:lnTo>
                  <a:pt x="5688855" y="0"/>
                </a:lnTo>
                <a:close/>
              </a:path>
            </a:pathLst>
          </a:custGeom>
          <a:blipFill>
            <a:blip r:embed="rId2">
              <a:alphaModFix amt="49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9934" y="0"/>
            <a:ext cx="4532959" cy="4245872"/>
          </a:xfrm>
          <a:custGeom>
            <a:avLst/>
            <a:gdLst/>
            <a:ahLst/>
            <a:cxnLst/>
            <a:rect r="r" b="b" t="t" l="l"/>
            <a:pathLst>
              <a:path h="4245872" w="4532959">
                <a:moveTo>
                  <a:pt x="0" y="0"/>
                </a:moveTo>
                <a:lnTo>
                  <a:pt x="4532959" y="0"/>
                </a:lnTo>
                <a:lnTo>
                  <a:pt x="4532959" y="4245872"/>
                </a:lnTo>
                <a:lnTo>
                  <a:pt x="0" y="42458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39934" y="-776"/>
            <a:ext cx="1885101" cy="1619230"/>
          </a:xfrm>
          <a:custGeom>
            <a:avLst/>
            <a:gdLst/>
            <a:ahLst/>
            <a:cxnLst/>
            <a:rect r="r" b="b" t="t" l="l"/>
            <a:pathLst>
              <a:path h="1619230" w="1885101">
                <a:moveTo>
                  <a:pt x="0" y="0"/>
                </a:moveTo>
                <a:lnTo>
                  <a:pt x="1885101" y="0"/>
                </a:lnTo>
                <a:lnTo>
                  <a:pt x="1885101" y="1619229"/>
                </a:lnTo>
                <a:lnTo>
                  <a:pt x="0" y="1619229"/>
                </a:lnTo>
                <a:lnTo>
                  <a:pt x="0" y="0"/>
                </a:lnTo>
                <a:close/>
              </a:path>
            </a:pathLst>
          </a:custGeom>
          <a:blipFill>
            <a:blip r:embed="rId6"/>
            <a:stretch>
              <a:fillRect l="0" t="-29178" r="0" b="-5350"/>
            </a:stretch>
          </a:blipFill>
        </p:spPr>
      </p:sp>
      <p:grpSp>
        <p:nvGrpSpPr>
          <p:cNvPr name="Group 5" id="5"/>
          <p:cNvGrpSpPr/>
          <p:nvPr/>
        </p:nvGrpSpPr>
        <p:grpSpPr>
          <a:xfrm rot="0">
            <a:off x="-80169" y="9509796"/>
            <a:ext cx="18368169" cy="777204"/>
            <a:chOff x="0" y="0"/>
            <a:chExt cx="4837707" cy="204696"/>
          </a:xfrm>
        </p:grpSpPr>
        <p:sp>
          <p:nvSpPr>
            <p:cNvPr name="Freeform 6" id="6"/>
            <p:cNvSpPr/>
            <p:nvPr/>
          </p:nvSpPr>
          <p:spPr>
            <a:xfrm flipH="false" flipV="false" rot="0">
              <a:off x="0" y="0"/>
              <a:ext cx="4837707" cy="204696"/>
            </a:xfrm>
            <a:custGeom>
              <a:avLst/>
              <a:gdLst/>
              <a:ahLst/>
              <a:cxnLst/>
              <a:rect r="r" b="b" t="t" l="l"/>
              <a:pathLst>
                <a:path h="204696" w="4837707">
                  <a:moveTo>
                    <a:pt x="0" y="0"/>
                  </a:moveTo>
                  <a:lnTo>
                    <a:pt x="4837707" y="0"/>
                  </a:lnTo>
                  <a:lnTo>
                    <a:pt x="4837707" y="204696"/>
                  </a:lnTo>
                  <a:lnTo>
                    <a:pt x="0" y="204696"/>
                  </a:lnTo>
                  <a:close/>
                </a:path>
              </a:pathLst>
            </a:custGeom>
            <a:solidFill>
              <a:srgbClr val="00004D"/>
            </a:solidFill>
          </p:spPr>
        </p:sp>
        <p:sp>
          <p:nvSpPr>
            <p:cNvPr name="TextBox 7" id="7"/>
            <p:cNvSpPr txBox="true"/>
            <p:nvPr/>
          </p:nvSpPr>
          <p:spPr>
            <a:xfrm>
              <a:off x="0" y="-38100"/>
              <a:ext cx="4837707" cy="242796"/>
            </a:xfrm>
            <a:prstGeom prst="rect">
              <a:avLst/>
            </a:prstGeom>
          </p:spPr>
          <p:txBody>
            <a:bodyPr anchor="ctr" rtlCol="false" tIns="50800" lIns="50800" bIns="50800" rIns="50800"/>
            <a:lstStyle/>
            <a:p>
              <a:pPr algn="ctr">
                <a:lnSpc>
                  <a:spcPts val="3194"/>
                </a:lnSpc>
              </a:pPr>
            </a:p>
          </p:txBody>
        </p:sp>
      </p:grpSp>
      <p:grpSp>
        <p:nvGrpSpPr>
          <p:cNvPr name="Group 8" id="8"/>
          <p:cNvGrpSpPr/>
          <p:nvPr/>
        </p:nvGrpSpPr>
        <p:grpSpPr>
          <a:xfrm rot="0">
            <a:off x="1546572" y="417216"/>
            <a:ext cx="3881590" cy="783245"/>
            <a:chOff x="0" y="0"/>
            <a:chExt cx="5175454" cy="1044327"/>
          </a:xfrm>
        </p:grpSpPr>
        <p:sp>
          <p:nvSpPr>
            <p:cNvPr name="TextBox 9" id="9"/>
            <p:cNvSpPr txBox="true"/>
            <p:nvPr/>
          </p:nvSpPr>
          <p:spPr>
            <a:xfrm rot="0">
              <a:off x="0" y="474538"/>
              <a:ext cx="4606605" cy="569788"/>
            </a:xfrm>
            <a:prstGeom prst="rect">
              <a:avLst/>
            </a:prstGeom>
          </p:spPr>
          <p:txBody>
            <a:bodyPr anchor="t" rtlCol="false" tIns="0" lIns="0" bIns="0" rIns="0">
              <a:spAutoFit/>
            </a:bodyPr>
            <a:lstStyle/>
            <a:p>
              <a:pPr algn="l">
                <a:lnSpc>
                  <a:spcPts val="3614"/>
                </a:lnSpc>
              </a:pPr>
              <a:r>
                <a:rPr lang="en-US" sz="2581" b="true">
                  <a:solidFill>
                    <a:srgbClr val="000000"/>
                  </a:solidFill>
                  <a:latin typeface="Inter Bold"/>
                  <a:ea typeface="Inter Bold"/>
                  <a:cs typeface="Inter Bold"/>
                  <a:sym typeface="Inter Bold"/>
                </a:rPr>
                <a:t>Sppg Sindang Asih</a:t>
              </a:r>
            </a:p>
          </p:txBody>
        </p:sp>
        <p:sp>
          <p:nvSpPr>
            <p:cNvPr name="TextBox 10" id="10"/>
            <p:cNvSpPr txBox="true"/>
            <p:nvPr/>
          </p:nvSpPr>
          <p:spPr>
            <a:xfrm rot="0">
              <a:off x="0" y="-47625"/>
              <a:ext cx="5175454" cy="569788"/>
            </a:xfrm>
            <a:prstGeom prst="rect">
              <a:avLst/>
            </a:prstGeom>
          </p:spPr>
          <p:txBody>
            <a:bodyPr anchor="t" rtlCol="false" tIns="0" lIns="0" bIns="0" rIns="0">
              <a:spAutoFit/>
            </a:bodyPr>
            <a:lstStyle/>
            <a:p>
              <a:pPr algn="l">
                <a:lnSpc>
                  <a:spcPts val="3614"/>
                </a:lnSpc>
              </a:pPr>
              <a:r>
                <a:rPr lang="en-US" sz="2581" b="true">
                  <a:solidFill>
                    <a:srgbClr val="000000"/>
                  </a:solidFill>
                  <a:latin typeface="Inter Bold"/>
                  <a:ea typeface="Inter Bold"/>
                  <a:cs typeface="Inter Bold"/>
                  <a:sym typeface="Inter Bold"/>
                </a:rPr>
                <a:t>Badan Gizi Nasional</a:t>
              </a:r>
            </a:p>
          </p:txBody>
        </p:sp>
      </p:grpSp>
      <p:sp>
        <p:nvSpPr>
          <p:cNvPr name="TextBox 11" id="11"/>
          <p:cNvSpPr txBox="true"/>
          <p:nvPr/>
        </p:nvSpPr>
        <p:spPr>
          <a:xfrm rot="0">
            <a:off x="6256565" y="1229036"/>
            <a:ext cx="5774870" cy="905776"/>
          </a:xfrm>
          <a:prstGeom prst="rect">
            <a:avLst/>
          </a:prstGeom>
        </p:spPr>
        <p:txBody>
          <a:bodyPr anchor="t" rtlCol="false" tIns="0" lIns="0" bIns="0" rIns="0">
            <a:spAutoFit/>
          </a:bodyPr>
          <a:lstStyle/>
          <a:p>
            <a:pPr algn="ctr">
              <a:lnSpc>
                <a:spcPts val="7063"/>
              </a:lnSpc>
            </a:pPr>
            <a:r>
              <a:rPr lang="en-US" sz="6141">
                <a:solidFill>
                  <a:srgbClr val="000000"/>
                </a:solidFill>
                <a:latin typeface="Rye"/>
                <a:ea typeface="Rye"/>
                <a:cs typeface="Rye"/>
                <a:sym typeface="Rye"/>
              </a:rPr>
              <a:t>KEAMANAN</a:t>
            </a:r>
          </a:p>
        </p:txBody>
      </p:sp>
      <p:sp>
        <p:nvSpPr>
          <p:cNvPr name="TextBox 12" id="12"/>
          <p:cNvSpPr txBox="true"/>
          <p:nvPr/>
        </p:nvSpPr>
        <p:spPr>
          <a:xfrm rot="0">
            <a:off x="1028700" y="2451376"/>
            <a:ext cx="16865625" cy="5836079"/>
          </a:xfrm>
          <a:prstGeom prst="rect">
            <a:avLst/>
          </a:prstGeom>
        </p:spPr>
        <p:txBody>
          <a:bodyPr anchor="t" rtlCol="false" tIns="0" lIns="0" bIns="0" rIns="0">
            <a:spAutoFit/>
          </a:bodyPr>
          <a:lstStyle/>
          <a:p>
            <a:pPr algn="just">
              <a:lnSpc>
                <a:spcPts val="3897"/>
              </a:lnSpc>
            </a:pPr>
            <a:r>
              <a:rPr lang="en-US" sz="3479" b="true">
                <a:solidFill>
                  <a:srgbClr val="000000"/>
                </a:solidFill>
                <a:latin typeface="Inter Bold"/>
                <a:ea typeface="Inter Bold"/>
                <a:cs typeface="Inter Bold"/>
                <a:sym typeface="Inter Bold"/>
              </a:rPr>
              <a:t>Berikut tugas dan tanggung jawab Divisi Keamanan </a:t>
            </a:r>
            <a:r>
              <a:rPr lang="en-US" sz="3479" b="true">
                <a:solidFill>
                  <a:srgbClr val="000000"/>
                </a:solidFill>
                <a:latin typeface="Inter Bold"/>
                <a:ea typeface="Inter Bold"/>
                <a:cs typeface="Inter Bold"/>
                <a:sym typeface="Inter Bold"/>
              </a:rPr>
              <a:t>Di Satuan Pelayanan program pemenuhan Gizi yaitu :</a:t>
            </a:r>
          </a:p>
          <a:p>
            <a:pPr algn="just">
              <a:lnSpc>
                <a:spcPts val="3897"/>
              </a:lnSpc>
            </a:pPr>
            <a:r>
              <a:rPr lang="en-US" sz="3479" b="true">
                <a:solidFill>
                  <a:srgbClr val="000000"/>
                </a:solidFill>
                <a:latin typeface="Inter Bold"/>
                <a:ea typeface="Inter Bold"/>
                <a:cs typeface="Inter Bold"/>
                <a:sym typeface="Inter Bold"/>
              </a:rPr>
              <a:t>a) Menjaga keamanan dan ketertiban di SPPG. </a:t>
            </a:r>
          </a:p>
          <a:p>
            <a:pPr algn="just">
              <a:lnSpc>
                <a:spcPts val="3897"/>
              </a:lnSpc>
            </a:pPr>
            <a:r>
              <a:rPr lang="en-US" sz="3479" b="true">
                <a:solidFill>
                  <a:srgbClr val="000000"/>
                </a:solidFill>
                <a:latin typeface="Inter Bold"/>
                <a:ea typeface="Inter Bold"/>
                <a:cs typeface="Inter Bold"/>
                <a:sym typeface="Inter Bold"/>
              </a:rPr>
              <a:t>b) Memastikan keamanan akses keluar masuk  personil, supplier dan tamu di SPPG. </a:t>
            </a:r>
          </a:p>
          <a:p>
            <a:pPr algn="just">
              <a:lnSpc>
                <a:spcPts val="3897"/>
              </a:lnSpc>
            </a:pPr>
            <a:r>
              <a:rPr lang="en-US" sz="3479" b="true">
                <a:solidFill>
                  <a:srgbClr val="000000"/>
                </a:solidFill>
                <a:latin typeface="Inter Bold"/>
                <a:ea typeface="Inter Bold"/>
                <a:cs typeface="Inter Bold"/>
                <a:sym typeface="Inter Bold"/>
              </a:rPr>
              <a:t>c) Melakukan inspeksi keamanan lingkungan SPPG dan personil di SPPG. </a:t>
            </a:r>
          </a:p>
          <a:p>
            <a:pPr algn="just">
              <a:lnSpc>
                <a:spcPts val="3897"/>
              </a:lnSpc>
            </a:pPr>
            <a:r>
              <a:rPr lang="en-US" sz="3479" b="true">
                <a:solidFill>
                  <a:srgbClr val="000000"/>
                </a:solidFill>
                <a:latin typeface="Inter Bold"/>
                <a:ea typeface="Inter Bold"/>
                <a:cs typeface="Inter Bold"/>
                <a:sym typeface="Inter Bold"/>
              </a:rPr>
              <a:t>d) Memastikan tidak ada barang masuk dan keluar tanpa seizin Kepala SPPG. </a:t>
            </a:r>
          </a:p>
          <a:p>
            <a:pPr algn="just">
              <a:lnSpc>
                <a:spcPts val="3897"/>
              </a:lnSpc>
            </a:pPr>
            <a:r>
              <a:rPr lang="en-US" sz="3479" b="true">
                <a:solidFill>
                  <a:srgbClr val="000000"/>
                </a:solidFill>
                <a:latin typeface="Inter Bold"/>
                <a:ea typeface="Inter Bold"/>
                <a:cs typeface="Inter Bold"/>
                <a:sym typeface="Inter Bold"/>
              </a:rPr>
              <a:t>e) Melakukan koordinasi dengan Aparat Keamanan setempat.</a:t>
            </a:r>
          </a:p>
          <a:p>
            <a:pPr algn="just">
              <a:lnSpc>
                <a:spcPts val="3897"/>
              </a:lnSpc>
            </a:pPr>
            <a:r>
              <a:rPr lang="en-US" sz="3479" b="true">
                <a:solidFill>
                  <a:srgbClr val="000000"/>
                </a:solidFill>
                <a:latin typeface="Inter Bold"/>
                <a:ea typeface="Inter Bold"/>
                <a:cs typeface="Inter Bold"/>
                <a:sym typeface="Inter Bold"/>
              </a:rPr>
              <a:t>F) Memastikan dan mencatat Keluar masuknya barang di gudang</a:t>
            </a:r>
          </a:p>
          <a:p>
            <a:pPr algn="just">
              <a:lnSpc>
                <a:spcPts val="3897"/>
              </a:lnSpc>
            </a:pPr>
            <a:r>
              <a:rPr lang="en-US" sz="3479" b="true">
                <a:solidFill>
                  <a:srgbClr val="000000"/>
                </a:solidFill>
                <a:latin typeface="Inter Bold"/>
                <a:ea typeface="Inter Bold"/>
                <a:cs typeface="Inter Bold"/>
                <a:sym typeface="Inter Bold"/>
              </a:rPr>
              <a:t>g)Menegur Relawan yang Meninggalkan Tugas Selama jam kerja</a:t>
            </a:r>
          </a:p>
          <a:p>
            <a:pPr algn="just">
              <a:lnSpc>
                <a:spcPts val="3897"/>
              </a:lnSpc>
            </a:pPr>
            <a:r>
              <a:rPr lang="en-US" sz="3479" b="true">
                <a:solidFill>
                  <a:srgbClr val="000000"/>
                </a:solidFill>
                <a:latin typeface="Inter Bold"/>
                <a:ea typeface="Inter Bold"/>
                <a:cs typeface="Inter Bold"/>
                <a:sym typeface="Inter Bold"/>
              </a:rPr>
              <a:t>h) Memastikan Relawan melakukan absen manual dan Finger print</a:t>
            </a:r>
          </a:p>
          <a:p>
            <a:pPr algn="just">
              <a:lnSpc>
                <a:spcPts val="3897"/>
              </a:lnSpc>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true" flipV="false" rot="0">
            <a:off x="0" y="6318746"/>
            <a:ext cx="6124273" cy="4281887"/>
          </a:xfrm>
          <a:custGeom>
            <a:avLst/>
            <a:gdLst/>
            <a:ahLst/>
            <a:cxnLst/>
            <a:rect r="r" b="b" t="t" l="l"/>
            <a:pathLst>
              <a:path h="4281887" w="6124273">
                <a:moveTo>
                  <a:pt x="6124273" y="0"/>
                </a:moveTo>
                <a:lnTo>
                  <a:pt x="0" y="0"/>
                </a:lnTo>
                <a:lnTo>
                  <a:pt x="0" y="4281887"/>
                </a:lnTo>
                <a:lnTo>
                  <a:pt x="6124273" y="4281887"/>
                </a:lnTo>
                <a:lnTo>
                  <a:pt x="6124273"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9934" y="0"/>
            <a:ext cx="4532959" cy="4245872"/>
          </a:xfrm>
          <a:custGeom>
            <a:avLst/>
            <a:gdLst/>
            <a:ahLst/>
            <a:cxnLst/>
            <a:rect r="r" b="b" t="t" l="l"/>
            <a:pathLst>
              <a:path h="4245872" w="4532959">
                <a:moveTo>
                  <a:pt x="0" y="0"/>
                </a:moveTo>
                <a:lnTo>
                  <a:pt x="4532959" y="0"/>
                </a:lnTo>
                <a:lnTo>
                  <a:pt x="4532959" y="4245872"/>
                </a:lnTo>
                <a:lnTo>
                  <a:pt x="0" y="42458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39934" y="0"/>
            <a:ext cx="1885101" cy="1619230"/>
          </a:xfrm>
          <a:custGeom>
            <a:avLst/>
            <a:gdLst/>
            <a:ahLst/>
            <a:cxnLst/>
            <a:rect r="r" b="b" t="t" l="l"/>
            <a:pathLst>
              <a:path h="1619230" w="1885101">
                <a:moveTo>
                  <a:pt x="0" y="0"/>
                </a:moveTo>
                <a:lnTo>
                  <a:pt x="1885101" y="0"/>
                </a:lnTo>
                <a:lnTo>
                  <a:pt x="1885101" y="1619230"/>
                </a:lnTo>
                <a:lnTo>
                  <a:pt x="0" y="1619230"/>
                </a:lnTo>
                <a:lnTo>
                  <a:pt x="0" y="0"/>
                </a:lnTo>
                <a:close/>
              </a:path>
            </a:pathLst>
          </a:custGeom>
          <a:blipFill>
            <a:blip r:embed="rId6"/>
            <a:stretch>
              <a:fillRect l="0" t="-29178" r="0" b="-5350"/>
            </a:stretch>
          </a:blipFill>
        </p:spPr>
      </p:sp>
      <p:grpSp>
        <p:nvGrpSpPr>
          <p:cNvPr name="Group 5" id="5"/>
          <p:cNvGrpSpPr/>
          <p:nvPr/>
        </p:nvGrpSpPr>
        <p:grpSpPr>
          <a:xfrm rot="0">
            <a:off x="-80169" y="9509796"/>
            <a:ext cx="18368169" cy="777204"/>
            <a:chOff x="0" y="0"/>
            <a:chExt cx="4837707" cy="204696"/>
          </a:xfrm>
        </p:grpSpPr>
        <p:sp>
          <p:nvSpPr>
            <p:cNvPr name="Freeform 6" id="6"/>
            <p:cNvSpPr/>
            <p:nvPr/>
          </p:nvSpPr>
          <p:spPr>
            <a:xfrm flipH="false" flipV="false" rot="0">
              <a:off x="0" y="0"/>
              <a:ext cx="4837707" cy="204696"/>
            </a:xfrm>
            <a:custGeom>
              <a:avLst/>
              <a:gdLst/>
              <a:ahLst/>
              <a:cxnLst/>
              <a:rect r="r" b="b" t="t" l="l"/>
              <a:pathLst>
                <a:path h="204696" w="4837707">
                  <a:moveTo>
                    <a:pt x="0" y="0"/>
                  </a:moveTo>
                  <a:lnTo>
                    <a:pt x="4837707" y="0"/>
                  </a:lnTo>
                  <a:lnTo>
                    <a:pt x="4837707" y="204696"/>
                  </a:lnTo>
                  <a:lnTo>
                    <a:pt x="0" y="204696"/>
                  </a:lnTo>
                  <a:close/>
                </a:path>
              </a:pathLst>
            </a:custGeom>
            <a:solidFill>
              <a:srgbClr val="00004D"/>
            </a:solidFill>
          </p:spPr>
        </p:sp>
        <p:sp>
          <p:nvSpPr>
            <p:cNvPr name="TextBox 7" id="7"/>
            <p:cNvSpPr txBox="true"/>
            <p:nvPr/>
          </p:nvSpPr>
          <p:spPr>
            <a:xfrm>
              <a:off x="0" y="-38100"/>
              <a:ext cx="4837707" cy="242796"/>
            </a:xfrm>
            <a:prstGeom prst="rect">
              <a:avLst/>
            </a:prstGeom>
          </p:spPr>
          <p:txBody>
            <a:bodyPr anchor="ctr" rtlCol="false" tIns="50800" lIns="50800" bIns="50800" rIns="50800"/>
            <a:lstStyle/>
            <a:p>
              <a:pPr algn="ctr">
                <a:lnSpc>
                  <a:spcPts val="3194"/>
                </a:lnSpc>
              </a:pPr>
            </a:p>
          </p:txBody>
        </p:sp>
      </p:grpSp>
      <p:grpSp>
        <p:nvGrpSpPr>
          <p:cNvPr name="Group 8" id="8"/>
          <p:cNvGrpSpPr/>
          <p:nvPr/>
        </p:nvGrpSpPr>
        <p:grpSpPr>
          <a:xfrm rot="0">
            <a:off x="1562103" y="417992"/>
            <a:ext cx="3881590" cy="783245"/>
            <a:chOff x="0" y="0"/>
            <a:chExt cx="5175454" cy="1044327"/>
          </a:xfrm>
        </p:grpSpPr>
        <p:sp>
          <p:nvSpPr>
            <p:cNvPr name="TextBox 9" id="9"/>
            <p:cNvSpPr txBox="true"/>
            <p:nvPr/>
          </p:nvSpPr>
          <p:spPr>
            <a:xfrm rot="0">
              <a:off x="0" y="474538"/>
              <a:ext cx="4606605" cy="569788"/>
            </a:xfrm>
            <a:prstGeom prst="rect">
              <a:avLst/>
            </a:prstGeom>
          </p:spPr>
          <p:txBody>
            <a:bodyPr anchor="t" rtlCol="false" tIns="0" lIns="0" bIns="0" rIns="0">
              <a:spAutoFit/>
            </a:bodyPr>
            <a:lstStyle/>
            <a:p>
              <a:pPr algn="l">
                <a:lnSpc>
                  <a:spcPts val="3614"/>
                </a:lnSpc>
              </a:pPr>
              <a:r>
                <a:rPr lang="en-US" sz="2581" b="true">
                  <a:solidFill>
                    <a:srgbClr val="000000"/>
                  </a:solidFill>
                  <a:latin typeface="Inter Bold"/>
                  <a:ea typeface="Inter Bold"/>
                  <a:cs typeface="Inter Bold"/>
                  <a:sym typeface="Inter Bold"/>
                </a:rPr>
                <a:t>Sppg Sindang Asih</a:t>
              </a:r>
            </a:p>
          </p:txBody>
        </p:sp>
        <p:sp>
          <p:nvSpPr>
            <p:cNvPr name="TextBox 10" id="10"/>
            <p:cNvSpPr txBox="true"/>
            <p:nvPr/>
          </p:nvSpPr>
          <p:spPr>
            <a:xfrm rot="0">
              <a:off x="0" y="-47625"/>
              <a:ext cx="5175454" cy="569788"/>
            </a:xfrm>
            <a:prstGeom prst="rect">
              <a:avLst/>
            </a:prstGeom>
          </p:spPr>
          <p:txBody>
            <a:bodyPr anchor="t" rtlCol="false" tIns="0" lIns="0" bIns="0" rIns="0">
              <a:spAutoFit/>
            </a:bodyPr>
            <a:lstStyle/>
            <a:p>
              <a:pPr algn="l">
                <a:lnSpc>
                  <a:spcPts val="3614"/>
                </a:lnSpc>
              </a:pPr>
              <a:r>
                <a:rPr lang="en-US" sz="2581" b="true">
                  <a:solidFill>
                    <a:srgbClr val="000000"/>
                  </a:solidFill>
                  <a:latin typeface="Inter Bold"/>
                  <a:ea typeface="Inter Bold"/>
                  <a:cs typeface="Inter Bold"/>
                  <a:sym typeface="Inter Bold"/>
                </a:rPr>
                <a:t>Badan Gizi Nasional</a:t>
              </a:r>
            </a:p>
          </p:txBody>
        </p:sp>
      </p:grpSp>
      <p:sp>
        <p:nvSpPr>
          <p:cNvPr name="TextBox 11" id="11"/>
          <p:cNvSpPr txBox="true"/>
          <p:nvPr/>
        </p:nvSpPr>
        <p:spPr>
          <a:xfrm rot="0">
            <a:off x="5443693" y="1210762"/>
            <a:ext cx="6899476" cy="676529"/>
          </a:xfrm>
          <a:prstGeom prst="rect">
            <a:avLst/>
          </a:prstGeom>
        </p:spPr>
        <p:txBody>
          <a:bodyPr anchor="t" rtlCol="false" tIns="0" lIns="0" bIns="0" rIns="0">
            <a:spAutoFit/>
          </a:bodyPr>
          <a:lstStyle/>
          <a:p>
            <a:pPr algn="ctr">
              <a:lnSpc>
                <a:spcPts val="5221"/>
              </a:lnSpc>
            </a:pPr>
            <a:r>
              <a:rPr lang="en-US" sz="4540">
                <a:solidFill>
                  <a:srgbClr val="000000"/>
                </a:solidFill>
                <a:latin typeface="Rye"/>
                <a:ea typeface="Rye"/>
                <a:cs typeface="Rye"/>
                <a:sym typeface="Rye"/>
              </a:rPr>
              <a:t>PENCUCIAN OMPRENG</a:t>
            </a:r>
          </a:p>
        </p:txBody>
      </p:sp>
      <p:sp>
        <p:nvSpPr>
          <p:cNvPr name="TextBox 12" id="12"/>
          <p:cNvSpPr txBox="true"/>
          <p:nvPr/>
        </p:nvSpPr>
        <p:spPr>
          <a:xfrm rot="0">
            <a:off x="802616" y="2141986"/>
            <a:ext cx="16865625" cy="7176056"/>
          </a:xfrm>
          <a:prstGeom prst="rect">
            <a:avLst/>
          </a:prstGeom>
        </p:spPr>
        <p:txBody>
          <a:bodyPr anchor="t" rtlCol="false" tIns="0" lIns="0" bIns="0" rIns="0">
            <a:spAutoFit/>
          </a:bodyPr>
          <a:lstStyle/>
          <a:p>
            <a:pPr algn="just">
              <a:lnSpc>
                <a:spcPts val="3561"/>
              </a:lnSpc>
            </a:pPr>
            <a:r>
              <a:rPr lang="en-US" sz="3179" b="true">
                <a:solidFill>
                  <a:srgbClr val="000000"/>
                </a:solidFill>
                <a:latin typeface="Inter Bold"/>
                <a:ea typeface="Inter Bold"/>
                <a:cs typeface="Inter Bold"/>
                <a:sym typeface="Inter Bold"/>
              </a:rPr>
              <a:t>Berikut tugas dan tanggung jawab Divisi Pencucian </a:t>
            </a:r>
            <a:r>
              <a:rPr lang="en-US" sz="3179" b="true">
                <a:solidFill>
                  <a:srgbClr val="000000"/>
                </a:solidFill>
                <a:latin typeface="Inter Bold"/>
                <a:ea typeface="Inter Bold"/>
                <a:cs typeface="Inter Bold"/>
                <a:sym typeface="Inter Bold"/>
              </a:rPr>
              <a:t>Di Satuan Pelayanan program pemenuhan Gizi yaitu :</a:t>
            </a:r>
          </a:p>
          <a:p>
            <a:pPr algn="just">
              <a:lnSpc>
                <a:spcPts val="3561"/>
              </a:lnSpc>
            </a:pPr>
            <a:r>
              <a:rPr lang="en-US" sz="3179" b="true">
                <a:solidFill>
                  <a:srgbClr val="000000"/>
                </a:solidFill>
                <a:latin typeface="Inter Bold"/>
                <a:ea typeface="Inter Bold"/>
                <a:cs typeface="Inter Bold"/>
                <a:sym typeface="Inter Bold"/>
              </a:rPr>
              <a:t>a) Memastikan alat makan yang kotor datang sesuai dengan jumlah porsi yang sudah ditentukan  (tempat dan tutup). </a:t>
            </a:r>
          </a:p>
          <a:p>
            <a:pPr algn="just">
              <a:lnSpc>
                <a:spcPts val="3561"/>
              </a:lnSpc>
            </a:pPr>
            <a:r>
              <a:rPr lang="en-US" sz="3179" b="true">
                <a:solidFill>
                  <a:srgbClr val="000000"/>
                </a:solidFill>
                <a:latin typeface="Inter Bold"/>
                <a:ea typeface="Inter Bold"/>
                <a:cs typeface="Inter Bold"/>
                <a:sym typeface="Inter Bold"/>
              </a:rPr>
              <a:t>b) Bertanggung jawab dalam memisahkan sampah nasi dan sayur dari satuan pendidikan, selanjutnya ditimbang dan dicatat. </a:t>
            </a:r>
          </a:p>
          <a:p>
            <a:pPr algn="just">
              <a:lnSpc>
                <a:spcPts val="3561"/>
              </a:lnSpc>
            </a:pPr>
            <a:r>
              <a:rPr lang="en-US" sz="3179" b="true">
                <a:solidFill>
                  <a:srgbClr val="000000"/>
                </a:solidFill>
                <a:latin typeface="Inter Bold"/>
                <a:ea typeface="Inter Bold"/>
                <a:cs typeface="Inter Bold"/>
                <a:sym typeface="Inter Bold"/>
              </a:rPr>
              <a:t>c) Membilas tempat makan dan tutup yang kotor dengan air panas. </a:t>
            </a:r>
          </a:p>
          <a:p>
            <a:pPr algn="just">
              <a:lnSpc>
                <a:spcPts val="3561"/>
              </a:lnSpc>
            </a:pPr>
            <a:r>
              <a:rPr lang="en-US" sz="3179" b="true">
                <a:solidFill>
                  <a:srgbClr val="000000"/>
                </a:solidFill>
                <a:latin typeface="Inter Bold"/>
                <a:ea typeface="Inter Bold"/>
                <a:cs typeface="Inter Bold"/>
                <a:sym typeface="Inter Bold"/>
              </a:rPr>
              <a:t>d) Mencuci tempat makan dan tutup yang kotor menggunakan sabun cair, digosok dengan spon, dan dibilas dua kali menggunakan air bersih. </a:t>
            </a:r>
          </a:p>
          <a:p>
            <a:pPr algn="just">
              <a:lnSpc>
                <a:spcPts val="3561"/>
              </a:lnSpc>
            </a:pPr>
            <a:r>
              <a:rPr lang="en-US" sz="3179" b="true">
                <a:solidFill>
                  <a:srgbClr val="000000"/>
                </a:solidFill>
                <a:latin typeface="Inter Bold"/>
                <a:ea typeface="Inter Bold"/>
                <a:cs typeface="Inter Bold"/>
                <a:sym typeface="Inter Bold"/>
              </a:rPr>
              <a:t>e) Memastikan tempat makan dan tutup yang telah dicuci dalam keadaan bersih, rapi, diikat, dan higienis. </a:t>
            </a:r>
          </a:p>
          <a:p>
            <a:pPr algn="just">
              <a:lnSpc>
                <a:spcPts val="3561"/>
              </a:lnSpc>
            </a:pPr>
            <a:r>
              <a:rPr lang="en-US" sz="3179" b="true">
                <a:solidFill>
                  <a:srgbClr val="000000"/>
                </a:solidFill>
                <a:latin typeface="Inter Bold"/>
                <a:ea typeface="Inter Bold"/>
                <a:cs typeface="Inter Bold"/>
                <a:sym typeface="Inter Bold"/>
              </a:rPr>
              <a:t>f) Memastikan tempat makan yang bersih diambil dan dibawa kembali oleh driver ke unit pelayanan. </a:t>
            </a:r>
          </a:p>
          <a:p>
            <a:pPr algn="just">
              <a:lnSpc>
                <a:spcPts val="3561"/>
              </a:lnSpc>
            </a:pPr>
            <a:r>
              <a:rPr lang="en-US" sz="3179" b="true">
                <a:solidFill>
                  <a:srgbClr val="000000"/>
                </a:solidFill>
                <a:latin typeface="Inter Bold"/>
                <a:ea typeface="Inter Bold"/>
                <a:cs typeface="Inter Bold"/>
                <a:sym typeface="Inter Bold"/>
              </a:rPr>
              <a:t>g) Memastikan sanitasi tempat pencucian alat makan dalam keadaan bersih, tidak bau, tidak tersumbat, dan tidak mencemari lingkungan sekitar.</a:t>
            </a:r>
          </a:p>
          <a:p>
            <a:pPr algn="just">
              <a:lnSpc>
                <a:spcPts val="3561"/>
              </a:lnSpc>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true" flipV="false" rot="0">
            <a:off x="0" y="6318746"/>
            <a:ext cx="6124273" cy="4281887"/>
          </a:xfrm>
          <a:custGeom>
            <a:avLst/>
            <a:gdLst/>
            <a:ahLst/>
            <a:cxnLst/>
            <a:rect r="r" b="b" t="t" l="l"/>
            <a:pathLst>
              <a:path h="4281887" w="6124273">
                <a:moveTo>
                  <a:pt x="6124273" y="0"/>
                </a:moveTo>
                <a:lnTo>
                  <a:pt x="0" y="0"/>
                </a:lnTo>
                <a:lnTo>
                  <a:pt x="0" y="4281887"/>
                </a:lnTo>
                <a:lnTo>
                  <a:pt x="6124273" y="4281887"/>
                </a:lnTo>
                <a:lnTo>
                  <a:pt x="6124273"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9934" y="0"/>
            <a:ext cx="4532959" cy="4245872"/>
          </a:xfrm>
          <a:custGeom>
            <a:avLst/>
            <a:gdLst/>
            <a:ahLst/>
            <a:cxnLst/>
            <a:rect r="r" b="b" t="t" l="l"/>
            <a:pathLst>
              <a:path h="4245872" w="4532959">
                <a:moveTo>
                  <a:pt x="0" y="0"/>
                </a:moveTo>
                <a:lnTo>
                  <a:pt x="4532959" y="0"/>
                </a:lnTo>
                <a:lnTo>
                  <a:pt x="4532959" y="4245872"/>
                </a:lnTo>
                <a:lnTo>
                  <a:pt x="0" y="42458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39934" y="0"/>
            <a:ext cx="1885101" cy="1619230"/>
          </a:xfrm>
          <a:custGeom>
            <a:avLst/>
            <a:gdLst/>
            <a:ahLst/>
            <a:cxnLst/>
            <a:rect r="r" b="b" t="t" l="l"/>
            <a:pathLst>
              <a:path h="1619230" w="1885101">
                <a:moveTo>
                  <a:pt x="0" y="0"/>
                </a:moveTo>
                <a:lnTo>
                  <a:pt x="1885101" y="0"/>
                </a:lnTo>
                <a:lnTo>
                  <a:pt x="1885101" y="1619230"/>
                </a:lnTo>
                <a:lnTo>
                  <a:pt x="0" y="1619230"/>
                </a:lnTo>
                <a:lnTo>
                  <a:pt x="0" y="0"/>
                </a:lnTo>
                <a:close/>
              </a:path>
            </a:pathLst>
          </a:custGeom>
          <a:blipFill>
            <a:blip r:embed="rId6"/>
            <a:stretch>
              <a:fillRect l="0" t="-29178" r="0" b="-5350"/>
            </a:stretch>
          </a:blipFill>
        </p:spPr>
      </p:sp>
      <p:grpSp>
        <p:nvGrpSpPr>
          <p:cNvPr name="Group 5" id="5"/>
          <p:cNvGrpSpPr/>
          <p:nvPr/>
        </p:nvGrpSpPr>
        <p:grpSpPr>
          <a:xfrm rot="0">
            <a:off x="-80169" y="9509796"/>
            <a:ext cx="18368169" cy="777204"/>
            <a:chOff x="0" y="0"/>
            <a:chExt cx="4837707" cy="204696"/>
          </a:xfrm>
        </p:grpSpPr>
        <p:sp>
          <p:nvSpPr>
            <p:cNvPr name="Freeform 6" id="6"/>
            <p:cNvSpPr/>
            <p:nvPr/>
          </p:nvSpPr>
          <p:spPr>
            <a:xfrm flipH="false" flipV="false" rot="0">
              <a:off x="0" y="0"/>
              <a:ext cx="4837707" cy="204696"/>
            </a:xfrm>
            <a:custGeom>
              <a:avLst/>
              <a:gdLst/>
              <a:ahLst/>
              <a:cxnLst/>
              <a:rect r="r" b="b" t="t" l="l"/>
              <a:pathLst>
                <a:path h="204696" w="4837707">
                  <a:moveTo>
                    <a:pt x="0" y="0"/>
                  </a:moveTo>
                  <a:lnTo>
                    <a:pt x="4837707" y="0"/>
                  </a:lnTo>
                  <a:lnTo>
                    <a:pt x="4837707" y="204696"/>
                  </a:lnTo>
                  <a:lnTo>
                    <a:pt x="0" y="204696"/>
                  </a:lnTo>
                  <a:close/>
                </a:path>
              </a:pathLst>
            </a:custGeom>
            <a:solidFill>
              <a:srgbClr val="00004D"/>
            </a:solidFill>
          </p:spPr>
        </p:sp>
        <p:sp>
          <p:nvSpPr>
            <p:cNvPr name="TextBox 7" id="7"/>
            <p:cNvSpPr txBox="true"/>
            <p:nvPr/>
          </p:nvSpPr>
          <p:spPr>
            <a:xfrm>
              <a:off x="0" y="-38100"/>
              <a:ext cx="4837707" cy="242796"/>
            </a:xfrm>
            <a:prstGeom prst="rect">
              <a:avLst/>
            </a:prstGeom>
          </p:spPr>
          <p:txBody>
            <a:bodyPr anchor="ctr" rtlCol="false" tIns="50800" lIns="50800" bIns="50800" rIns="50800"/>
            <a:lstStyle/>
            <a:p>
              <a:pPr algn="ctr">
                <a:lnSpc>
                  <a:spcPts val="3194"/>
                </a:lnSpc>
              </a:pPr>
            </a:p>
          </p:txBody>
        </p:sp>
      </p:grpSp>
      <p:sp>
        <p:nvSpPr>
          <p:cNvPr name="Freeform 8" id="8"/>
          <p:cNvSpPr/>
          <p:nvPr/>
        </p:nvSpPr>
        <p:spPr>
          <a:xfrm flipH="false" flipV="false" rot="0">
            <a:off x="15628208" y="-1639408"/>
            <a:ext cx="4314338" cy="4114800"/>
          </a:xfrm>
          <a:custGeom>
            <a:avLst/>
            <a:gdLst/>
            <a:ahLst/>
            <a:cxnLst/>
            <a:rect r="r" b="b" t="t" l="l"/>
            <a:pathLst>
              <a:path h="4114800" w="4314338">
                <a:moveTo>
                  <a:pt x="0" y="0"/>
                </a:moveTo>
                <a:lnTo>
                  <a:pt x="4314338" y="0"/>
                </a:lnTo>
                <a:lnTo>
                  <a:pt x="4314338"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9" id="9"/>
          <p:cNvGrpSpPr/>
          <p:nvPr/>
        </p:nvGrpSpPr>
        <p:grpSpPr>
          <a:xfrm rot="0">
            <a:off x="1562103" y="417992"/>
            <a:ext cx="3881590" cy="783245"/>
            <a:chOff x="0" y="0"/>
            <a:chExt cx="5175454" cy="1044327"/>
          </a:xfrm>
        </p:grpSpPr>
        <p:sp>
          <p:nvSpPr>
            <p:cNvPr name="TextBox 10" id="10"/>
            <p:cNvSpPr txBox="true"/>
            <p:nvPr/>
          </p:nvSpPr>
          <p:spPr>
            <a:xfrm rot="0">
              <a:off x="0" y="474538"/>
              <a:ext cx="4606605" cy="569788"/>
            </a:xfrm>
            <a:prstGeom prst="rect">
              <a:avLst/>
            </a:prstGeom>
          </p:spPr>
          <p:txBody>
            <a:bodyPr anchor="t" rtlCol="false" tIns="0" lIns="0" bIns="0" rIns="0">
              <a:spAutoFit/>
            </a:bodyPr>
            <a:lstStyle/>
            <a:p>
              <a:pPr algn="l">
                <a:lnSpc>
                  <a:spcPts val="3614"/>
                </a:lnSpc>
              </a:pPr>
              <a:r>
                <a:rPr lang="en-US" sz="2581" b="true">
                  <a:solidFill>
                    <a:srgbClr val="000000"/>
                  </a:solidFill>
                  <a:latin typeface="Inter Bold"/>
                  <a:ea typeface="Inter Bold"/>
                  <a:cs typeface="Inter Bold"/>
                  <a:sym typeface="Inter Bold"/>
                </a:rPr>
                <a:t>Sppg Sindang Asih</a:t>
              </a:r>
            </a:p>
          </p:txBody>
        </p:sp>
        <p:sp>
          <p:nvSpPr>
            <p:cNvPr name="TextBox 11" id="11"/>
            <p:cNvSpPr txBox="true"/>
            <p:nvPr/>
          </p:nvSpPr>
          <p:spPr>
            <a:xfrm rot="0">
              <a:off x="0" y="-47625"/>
              <a:ext cx="5175454" cy="569788"/>
            </a:xfrm>
            <a:prstGeom prst="rect">
              <a:avLst/>
            </a:prstGeom>
          </p:spPr>
          <p:txBody>
            <a:bodyPr anchor="t" rtlCol="false" tIns="0" lIns="0" bIns="0" rIns="0">
              <a:spAutoFit/>
            </a:bodyPr>
            <a:lstStyle/>
            <a:p>
              <a:pPr algn="l">
                <a:lnSpc>
                  <a:spcPts val="3614"/>
                </a:lnSpc>
              </a:pPr>
              <a:r>
                <a:rPr lang="en-US" sz="2581" b="true">
                  <a:solidFill>
                    <a:srgbClr val="000000"/>
                  </a:solidFill>
                  <a:latin typeface="Inter Bold"/>
                  <a:ea typeface="Inter Bold"/>
                  <a:cs typeface="Inter Bold"/>
                  <a:sym typeface="Inter Bold"/>
                </a:rPr>
                <a:t>Badan Gizi Nasional</a:t>
              </a:r>
            </a:p>
          </p:txBody>
        </p:sp>
      </p:grpSp>
      <p:sp>
        <p:nvSpPr>
          <p:cNvPr name="TextBox 12" id="12"/>
          <p:cNvSpPr txBox="true"/>
          <p:nvPr/>
        </p:nvSpPr>
        <p:spPr>
          <a:xfrm rot="0">
            <a:off x="4393025" y="3769744"/>
            <a:ext cx="9696685" cy="1373756"/>
          </a:xfrm>
          <a:prstGeom prst="rect">
            <a:avLst/>
          </a:prstGeom>
        </p:spPr>
        <p:txBody>
          <a:bodyPr anchor="t" rtlCol="false" tIns="0" lIns="0" bIns="0" rIns="0">
            <a:spAutoFit/>
          </a:bodyPr>
          <a:lstStyle/>
          <a:p>
            <a:pPr algn="ctr">
              <a:lnSpc>
                <a:spcPts val="10740"/>
              </a:lnSpc>
            </a:pPr>
            <a:r>
              <a:rPr lang="en-US" sz="9339">
                <a:solidFill>
                  <a:srgbClr val="000000"/>
                </a:solidFill>
                <a:latin typeface="Rye"/>
                <a:ea typeface="Rye"/>
                <a:cs typeface="Rye"/>
                <a:sym typeface="Rye"/>
              </a:rPr>
              <a:t>SESI DISKUSI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DAHE8Gd-DI4</dc:identifier>
  <dcterms:modified xsi:type="dcterms:W3CDTF">2011-08-01T06:04:30Z</dcterms:modified>
  <cp:revision>1</cp:revision>
  <dc:title>Biru dan Putih Modern Seminar Proposal Presentation</dc:title>
</cp:coreProperties>
</file>